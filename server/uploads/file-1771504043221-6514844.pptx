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28952" y="335705"/>
            <a:ext cx="8734095" cy="1299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4547" y="1802663"/>
            <a:ext cx="10302875" cy="3521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4369" y="2532570"/>
            <a:ext cx="457771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Boot</a:t>
            </a:r>
            <a:r>
              <a:rPr dirty="0" sz="6000" spc="-185"/>
              <a:t> </a:t>
            </a:r>
            <a:r>
              <a:rPr dirty="0" sz="6000" spc="-10"/>
              <a:t>Block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238506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718335"/>
            <a:ext cx="10309860" cy="396176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>
                <a:latin typeface="Times New Roman"/>
                <a:cs typeface="Times New Roman"/>
              </a:rPr>
              <a:t>Disk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Management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one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functions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Operating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187325" algn="l"/>
              </a:tabLst>
            </a:pPr>
            <a:r>
              <a:rPr dirty="0" sz="2800" b="1">
                <a:latin typeface="Times New Roman"/>
                <a:cs typeface="Times New Roman"/>
              </a:rPr>
              <a:t>Boot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Block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&amp;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Bad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Block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are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2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features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disk</a:t>
            </a:r>
            <a:r>
              <a:rPr dirty="0" sz="2800" spc="-10">
                <a:latin typeface="Times New Roman"/>
                <a:cs typeface="Times New Roman"/>
              </a:rPr>
              <a:t> management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187325" algn="l"/>
              </a:tabLst>
            </a:pPr>
            <a:r>
              <a:rPr dirty="0" sz="2800" b="1">
                <a:latin typeface="Times New Roman"/>
                <a:cs typeface="Times New Roman"/>
              </a:rPr>
              <a:t>Boot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block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important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component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operating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lvl="1" marL="643255" indent="-181610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43255" algn="l"/>
              </a:tabLst>
            </a:pPr>
            <a:r>
              <a:rPr dirty="0" sz="2400">
                <a:latin typeface="Times New Roman"/>
                <a:cs typeface="Times New Roman"/>
              </a:rPr>
              <a:t>resides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region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hard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disk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other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storage</a:t>
            </a:r>
            <a:r>
              <a:rPr dirty="0" sz="2400" spc="-10">
                <a:latin typeface="Times New Roman"/>
                <a:cs typeface="Times New Roman"/>
              </a:rPr>
              <a:t> device</a:t>
            </a:r>
            <a:endParaRPr sz="2400">
              <a:latin typeface="Times New Roman"/>
              <a:cs typeface="Times New Roman"/>
            </a:endParaRPr>
          </a:p>
          <a:p>
            <a:pPr lvl="1" marL="643255" marR="5080" indent="-181610">
              <a:lnSpc>
                <a:spcPts val="2590"/>
              </a:lnSpc>
              <a:spcBef>
                <a:spcPts val="540"/>
              </a:spcBef>
              <a:buFont typeface="Arial MT"/>
              <a:buChar char="•"/>
              <a:tabLst>
                <a:tab pos="645160" algn="l"/>
                <a:tab pos="1796414" algn="l"/>
                <a:tab pos="2236470" algn="l"/>
                <a:tab pos="3200400" algn="l"/>
                <a:tab pos="3843020" algn="l"/>
                <a:tab pos="4419600" algn="l"/>
                <a:tab pos="5977255" algn="l"/>
                <a:tab pos="7129145" algn="l"/>
                <a:tab pos="7620634" algn="l"/>
                <a:tab pos="8857615" algn="l"/>
                <a:tab pos="9365615" algn="l"/>
              </a:tabLst>
            </a:pPr>
            <a:r>
              <a:rPr dirty="0" sz="2400" spc="-10">
                <a:latin typeface="Times New Roman"/>
                <a:cs typeface="Times New Roman"/>
              </a:rPr>
              <a:t>contains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all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crucial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data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and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instructions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required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for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initiating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booting 	process.</a:t>
            </a:r>
            <a:endParaRPr sz="2400">
              <a:latin typeface="Times New Roman"/>
              <a:cs typeface="Times New Roman"/>
            </a:endParaRPr>
          </a:p>
          <a:p>
            <a:pPr marL="186690" marR="43815" indent="-174625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187960" algn="l"/>
                <a:tab pos="965835" algn="l"/>
                <a:tab pos="2287905" algn="l"/>
                <a:tab pos="2611120" algn="l"/>
                <a:tab pos="3684904" algn="l"/>
                <a:tab pos="4147185" algn="l"/>
                <a:tab pos="5161915" algn="l"/>
                <a:tab pos="5623560" algn="l"/>
                <a:tab pos="5946775" algn="l"/>
                <a:tab pos="6703695" algn="l"/>
                <a:tab pos="7894320" algn="l"/>
                <a:tab pos="8985885" algn="l"/>
                <a:tab pos="10020935" algn="l"/>
              </a:tabLst>
            </a:pPr>
            <a:r>
              <a:rPr dirty="0" sz="2800" spc="-25" b="1">
                <a:latin typeface="Times New Roman"/>
                <a:cs typeface="Times New Roman"/>
              </a:rPr>
              <a:t>Bad</a:t>
            </a:r>
            <a:r>
              <a:rPr dirty="0" sz="2800" b="1">
                <a:latin typeface="Times New Roman"/>
                <a:cs typeface="Times New Roman"/>
              </a:rPr>
              <a:t>	block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is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0">
                <a:latin typeface="Times New Roman"/>
                <a:cs typeface="Times New Roman"/>
              </a:rPr>
              <a:t>a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region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or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sector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of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0">
                <a:latin typeface="Times New Roman"/>
                <a:cs typeface="Times New Roman"/>
              </a:rPr>
              <a:t>a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0">
                <a:latin typeface="Times New Roman"/>
                <a:cs typeface="Times New Roman"/>
              </a:rPr>
              <a:t>data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storage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device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which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is </a:t>
            </a:r>
            <a:r>
              <a:rPr dirty="0" sz="2800" spc="-25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damaged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</a:t>
            </a:r>
            <a:r>
              <a:rPr dirty="0" sz="2800" spc="-10">
                <a:latin typeface="Times New Roman"/>
                <a:cs typeface="Times New Roman"/>
              </a:rPr>
              <a:t> malfunctioned</a:t>
            </a:r>
            <a:endParaRPr sz="2800">
              <a:latin typeface="Times New Roman"/>
              <a:cs typeface="Times New Roman"/>
            </a:endParaRPr>
          </a:p>
          <a:p>
            <a:pPr lvl="1" marL="643255" indent="-181610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43255" algn="l"/>
              </a:tabLst>
            </a:pP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not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reliable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2232025">
              <a:lnSpc>
                <a:spcPct val="100000"/>
              </a:lnSpc>
              <a:spcBef>
                <a:spcPts val="100"/>
              </a:spcBef>
            </a:pPr>
            <a:r>
              <a:rPr dirty="0"/>
              <a:t>Booting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25"/>
              <a:t> OS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3649" y="2132784"/>
            <a:ext cx="5844701" cy="39752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99377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90"/>
              <a:t> </a:t>
            </a:r>
            <a:r>
              <a:rPr dirty="0"/>
              <a:t>are</a:t>
            </a:r>
            <a:r>
              <a:rPr dirty="0" spc="-85"/>
              <a:t> </a:t>
            </a:r>
            <a:r>
              <a:rPr dirty="0"/>
              <a:t>Boot</a:t>
            </a:r>
            <a:r>
              <a:rPr dirty="0" spc="-85"/>
              <a:t> </a:t>
            </a:r>
            <a:r>
              <a:rPr dirty="0" spc="-10"/>
              <a:t>Block?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algn="just" marL="186690" marR="24765" indent="-17462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187960" algn="l"/>
              </a:tabLst>
            </a:pPr>
            <a:r>
              <a:rPr dirty="0">
                <a:latin typeface="Verdana"/>
                <a:cs typeface="Verdana"/>
              </a:rPr>
              <a:t>Contains</a:t>
            </a:r>
            <a:r>
              <a:rPr dirty="0" spc="35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all</a:t>
            </a:r>
            <a:r>
              <a:rPr dirty="0" spc="35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the</a:t>
            </a:r>
            <a:r>
              <a:rPr dirty="0" spc="385">
                <a:latin typeface="Verdana"/>
                <a:cs typeface="Verdana"/>
              </a:rPr>
              <a:t> 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data</a:t>
            </a:r>
            <a:r>
              <a:rPr dirty="0" spc="355" b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dirty="0" spc="355" b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instructions</a:t>
            </a:r>
            <a:r>
              <a:rPr dirty="0" spc="355" b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required</a:t>
            </a:r>
            <a:r>
              <a:rPr dirty="0" spc="355" b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pc="-25" b="1">
                <a:solidFill>
                  <a:srgbClr val="FF0000"/>
                </a:solidFill>
                <a:latin typeface="Verdana"/>
                <a:cs typeface="Verdana"/>
              </a:rPr>
              <a:t>for </a:t>
            </a:r>
            <a:r>
              <a:rPr dirty="0" spc="-25" b="1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starting</a:t>
            </a:r>
            <a:r>
              <a:rPr dirty="0" spc="250" b="1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dirty="0" spc="254" b="1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booting</a:t>
            </a:r>
            <a:r>
              <a:rPr dirty="0" spc="254" b="1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process</a:t>
            </a:r>
            <a:r>
              <a:rPr dirty="0" spc="270" b="1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>
                <a:latin typeface="Verdana"/>
                <a:cs typeface="Verdana"/>
              </a:rPr>
              <a:t>of</a:t>
            </a:r>
            <a:r>
              <a:rPr dirty="0" spc="240">
                <a:latin typeface="Verdana"/>
                <a:cs typeface="Verdana"/>
              </a:rPr>
              <a:t>  </a:t>
            </a:r>
            <a:r>
              <a:rPr dirty="0">
                <a:latin typeface="Verdana"/>
                <a:cs typeface="Verdana"/>
              </a:rPr>
              <a:t>the</a:t>
            </a:r>
            <a:r>
              <a:rPr dirty="0" spc="235">
                <a:latin typeface="Verdana"/>
                <a:cs typeface="Verdana"/>
              </a:rPr>
              <a:t>  </a:t>
            </a:r>
            <a:r>
              <a:rPr dirty="0">
                <a:latin typeface="Verdana"/>
                <a:cs typeface="Verdana"/>
              </a:rPr>
              <a:t>system</a:t>
            </a:r>
            <a:r>
              <a:rPr dirty="0" spc="240">
                <a:latin typeface="Verdana"/>
                <a:cs typeface="Verdana"/>
              </a:rPr>
              <a:t>  </a:t>
            </a:r>
            <a:r>
              <a:rPr dirty="0" spc="-25">
                <a:latin typeface="Verdana"/>
                <a:cs typeface="Verdana"/>
              </a:rPr>
              <a:t>is </a:t>
            </a:r>
            <a:r>
              <a:rPr dirty="0" spc="-25">
                <a:latin typeface="Verdana"/>
                <a:cs typeface="Verdana"/>
              </a:rPr>
              <a:t>	</a:t>
            </a:r>
            <a:r>
              <a:rPr dirty="0">
                <a:latin typeface="Verdana"/>
                <a:cs typeface="Verdana"/>
              </a:rPr>
              <a:t>referred</a:t>
            </a:r>
            <a:r>
              <a:rPr dirty="0" spc="-7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to</a:t>
            </a:r>
            <a:r>
              <a:rPr dirty="0" spc="-7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as</a:t>
            </a:r>
            <a:r>
              <a:rPr dirty="0" spc="-7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boot</a:t>
            </a:r>
            <a:r>
              <a:rPr dirty="0" spc="-70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block</a:t>
            </a:r>
          </a:p>
          <a:p>
            <a:pPr algn="just" marL="187325" indent="-17462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>
                <a:latin typeface="Verdana"/>
                <a:cs typeface="Verdana"/>
              </a:rPr>
              <a:t>also</a:t>
            </a:r>
            <a:r>
              <a:rPr dirty="0" spc="-8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known</a:t>
            </a:r>
            <a:r>
              <a:rPr dirty="0" spc="-8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as</a:t>
            </a:r>
            <a:r>
              <a:rPr dirty="0" spc="-60">
                <a:latin typeface="Verdana"/>
                <a:cs typeface="Verdana"/>
              </a:rPr>
              <a:t> 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boot</a:t>
            </a:r>
            <a:r>
              <a:rPr dirty="0" spc="-80" b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pc="-10" b="1">
                <a:solidFill>
                  <a:srgbClr val="FF0000"/>
                </a:solidFill>
                <a:latin typeface="Verdana"/>
                <a:cs typeface="Verdana"/>
              </a:rPr>
              <a:t>sector</a:t>
            </a:r>
          </a:p>
          <a:p>
            <a:pPr algn="just" marL="186690" marR="5080" indent="-174625">
              <a:lnSpc>
                <a:spcPts val="3020"/>
              </a:lnSpc>
              <a:spcBef>
                <a:spcPts val="1050"/>
              </a:spcBef>
              <a:buFont typeface="Arial MT"/>
              <a:buChar char="•"/>
              <a:tabLst>
                <a:tab pos="187960" algn="l"/>
              </a:tabLst>
            </a:pPr>
            <a:r>
              <a:rPr dirty="0">
                <a:latin typeface="Verdana"/>
                <a:cs typeface="Verdana"/>
              </a:rPr>
              <a:t>as it is</a:t>
            </a:r>
            <a:r>
              <a:rPr dirty="0" spc="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 sector in</a:t>
            </a:r>
            <a:r>
              <a:rPr dirty="0" spc="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the memory</a:t>
            </a:r>
            <a:r>
              <a:rPr dirty="0" spc="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device which contains</a:t>
            </a:r>
            <a:r>
              <a:rPr dirty="0" spc="5">
                <a:latin typeface="Verdana"/>
                <a:cs typeface="Verdana"/>
              </a:rPr>
              <a:t> </a:t>
            </a:r>
            <a:r>
              <a:rPr dirty="0" spc="-25">
                <a:latin typeface="Verdana"/>
                <a:cs typeface="Verdana"/>
              </a:rPr>
              <a:t>all </a:t>
            </a:r>
            <a:r>
              <a:rPr dirty="0" spc="-25">
                <a:latin typeface="Verdana"/>
                <a:cs typeface="Verdana"/>
              </a:rPr>
              <a:t>	</a:t>
            </a:r>
            <a:r>
              <a:rPr dirty="0">
                <a:latin typeface="Verdana"/>
                <a:cs typeface="Verdana"/>
              </a:rPr>
              <a:t>the</a:t>
            </a:r>
            <a:r>
              <a:rPr dirty="0" spc="-15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instructions</a:t>
            </a:r>
          </a:p>
          <a:p>
            <a:pPr algn="just" marL="186690" marR="9525" indent="-17462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187960" algn="l"/>
              </a:tabLst>
            </a:pPr>
            <a:r>
              <a:rPr dirty="0">
                <a:latin typeface="Verdana"/>
                <a:cs typeface="Verdana"/>
              </a:rPr>
              <a:t>designed</a:t>
            </a:r>
            <a:r>
              <a:rPr dirty="0" spc="17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in</a:t>
            </a:r>
            <a:r>
              <a:rPr dirty="0" spc="17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</a:t>
            </a:r>
            <a:r>
              <a:rPr dirty="0" spc="180">
                <a:latin typeface="Verdana"/>
                <a:cs typeface="Verdana"/>
              </a:rPr>
              <a:t> 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standard</a:t>
            </a:r>
            <a:r>
              <a:rPr dirty="0" spc="175" b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format</a:t>
            </a:r>
            <a:r>
              <a:rPr dirty="0" spc="175" b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required</a:t>
            </a:r>
            <a:r>
              <a:rPr dirty="0" spc="170" b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to</a:t>
            </a:r>
            <a:r>
              <a:rPr dirty="0" spc="175" b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b="1">
                <a:solidFill>
                  <a:srgbClr val="FF0000"/>
                </a:solidFill>
                <a:latin typeface="Verdana"/>
                <a:cs typeface="Verdana"/>
              </a:rPr>
              <a:t>boot</a:t>
            </a:r>
            <a:r>
              <a:rPr dirty="0" spc="204" b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pc="-25">
                <a:latin typeface="Verdana"/>
                <a:cs typeface="Verdana"/>
              </a:rPr>
              <a:t>the </a:t>
            </a:r>
            <a:r>
              <a:rPr dirty="0" spc="-25">
                <a:latin typeface="Verdana"/>
                <a:cs typeface="Verdana"/>
              </a:rPr>
              <a:t>	</a:t>
            </a:r>
            <a:r>
              <a:rPr dirty="0">
                <a:latin typeface="Verdana"/>
                <a:cs typeface="Verdana"/>
              </a:rPr>
              <a:t>system</a:t>
            </a:r>
            <a:r>
              <a:rPr dirty="0" spc="-8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by</a:t>
            </a:r>
            <a:r>
              <a:rPr dirty="0" spc="-8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which</a:t>
            </a:r>
            <a:r>
              <a:rPr dirty="0" spc="-8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BIOS</a:t>
            </a:r>
            <a:r>
              <a:rPr dirty="0" spc="-8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can</a:t>
            </a:r>
            <a:r>
              <a:rPr dirty="0" spc="-8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understand</a:t>
            </a:r>
            <a:r>
              <a:rPr dirty="0" spc="-8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and</a:t>
            </a:r>
            <a:r>
              <a:rPr dirty="0" spc="-85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execute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241935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Components</a:t>
            </a:r>
            <a:r>
              <a:rPr dirty="0" spc="-185"/>
              <a:t> </a:t>
            </a:r>
            <a:r>
              <a:rPr dirty="0"/>
              <a:t>of</a:t>
            </a:r>
            <a:r>
              <a:rPr dirty="0" spc="-190"/>
              <a:t> </a:t>
            </a:r>
            <a:r>
              <a:rPr dirty="0"/>
              <a:t>Boot</a:t>
            </a:r>
            <a:r>
              <a:rPr dirty="0" spc="-190"/>
              <a:t> </a:t>
            </a:r>
            <a:r>
              <a:rPr dirty="0" spc="-10"/>
              <a:t>Block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5085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/>
              <a:t>MBR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5"/>
              <a:t> </a:t>
            </a:r>
            <a:r>
              <a:rPr dirty="0"/>
              <a:t>Master</a:t>
            </a:r>
            <a:r>
              <a:rPr dirty="0" spc="-5"/>
              <a:t> </a:t>
            </a:r>
            <a:r>
              <a:rPr dirty="0"/>
              <a:t>Boot</a:t>
            </a:r>
            <a:r>
              <a:rPr dirty="0" spc="-10"/>
              <a:t> Record</a:t>
            </a:r>
          </a:p>
          <a:p>
            <a:pPr lvl="1" marL="643255" marR="13970" indent="-181610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45160" algn="l"/>
              </a:tabLst>
            </a:pP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3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34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first</a:t>
            </a:r>
            <a:r>
              <a:rPr dirty="0" sz="2400" spc="3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part</a:t>
            </a:r>
            <a:r>
              <a:rPr dirty="0" sz="2400" spc="3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3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3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storage</a:t>
            </a:r>
            <a:r>
              <a:rPr dirty="0" sz="2400" spc="3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device</a:t>
            </a:r>
            <a:r>
              <a:rPr dirty="0" sz="2400" spc="37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3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contains</a:t>
            </a:r>
            <a:r>
              <a:rPr dirty="0" sz="2400" spc="3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355"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boot</a:t>
            </a:r>
            <a:r>
              <a:rPr dirty="0" sz="2400" spc="3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block,</a:t>
            </a:r>
            <a:r>
              <a:rPr dirty="0" sz="2400" spc="3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boot</a:t>
            </a:r>
            <a:r>
              <a:rPr dirty="0" sz="2400" spc="3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Times New Roman"/>
                <a:cs typeface="Times New Roman"/>
              </a:rPr>
              <a:t>code</a:t>
            </a:r>
            <a:r>
              <a:rPr dirty="0" sz="2400" spc="-10">
                <a:latin typeface="Times New Roman"/>
                <a:cs typeface="Times New Roman"/>
              </a:rPr>
              <a:t>,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partition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table,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other required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 </a:t>
            </a:r>
            <a:r>
              <a:rPr dirty="0" sz="2400" spc="-10">
                <a:latin typeface="Times New Roman"/>
                <a:cs typeface="Times New Roman"/>
              </a:rPr>
              <a:t>instructions</a:t>
            </a:r>
            <a:endParaRPr sz="2400">
              <a:latin typeface="Times New Roman"/>
              <a:cs typeface="Times New Roman"/>
            </a:endParaRPr>
          </a:p>
          <a:p>
            <a:pPr lvl="1" marL="643255" marR="5080" indent="-181610">
              <a:lnSpc>
                <a:spcPts val="2590"/>
              </a:lnSpc>
              <a:spcBef>
                <a:spcPts val="505"/>
              </a:spcBef>
              <a:buFont typeface="Arial MT"/>
              <a:buChar char="•"/>
              <a:tabLst>
                <a:tab pos="645160" algn="l"/>
              </a:tabLst>
            </a:pP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2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2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essential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part,</a:t>
            </a:r>
            <a:r>
              <a:rPr dirty="0" sz="2400" spc="2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helps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2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understand</a:t>
            </a:r>
            <a:r>
              <a:rPr dirty="0" sz="2400" spc="2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how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storage</a:t>
            </a:r>
            <a:r>
              <a:rPr dirty="0" sz="2400" spc="2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device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organized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which partition 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required to </a:t>
            </a:r>
            <a:r>
              <a:rPr dirty="0" sz="2400" spc="-10">
                <a:latin typeface="Times New Roman"/>
                <a:cs typeface="Times New Roman"/>
              </a:rPr>
              <a:t>boot.</a:t>
            </a:r>
            <a:endParaRPr sz="24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/>
              <a:t>Bootloader</a:t>
            </a:r>
            <a:r>
              <a:rPr dirty="0" spc="-5"/>
              <a:t> </a:t>
            </a:r>
            <a:r>
              <a:rPr dirty="0"/>
              <a:t>is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/>
              <a:t>computer </a:t>
            </a:r>
            <a:r>
              <a:rPr dirty="0" spc="-10"/>
              <a:t>program</a:t>
            </a:r>
          </a:p>
          <a:p>
            <a:pPr lvl="1" marL="643255" marR="13970" indent="-181610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45160" algn="l"/>
              </a:tabLst>
            </a:pPr>
            <a:r>
              <a:rPr dirty="0" sz="2400">
                <a:latin typeface="Times New Roman"/>
                <a:cs typeface="Times New Roman"/>
              </a:rPr>
              <a:t>responsible</a:t>
            </a:r>
            <a:r>
              <a:rPr dirty="0" sz="2400" spc="2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starting</a:t>
            </a:r>
            <a:r>
              <a:rPr dirty="0" sz="2400" spc="2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2400" spc="2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dirty="0" sz="2400" spc="2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dirty="0" sz="2400" spc="2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loading</a:t>
            </a:r>
            <a:r>
              <a:rPr dirty="0" sz="2400" spc="2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2400" spc="2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operating</a:t>
            </a:r>
            <a:r>
              <a:rPr dirty="0" sz="2400" spc="2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dirty="0" sz="2400" spc="2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into</a:t>
            </a:r>
            <a:r>
              <a:rPr dirty="0" sz="2400" spc="2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dirty="0" sz="2400" spc="-2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main </a:t>
            </a:r>
            <a:r>
              <a:rPr dirty="0" sz="2400" spc="-10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endParaRPr sz="2400">
              <a:latin typeface="Times New Roman"/>
              <a:cs typeface="Times New Roman"/>
            </a:endParaRPr>
          </a:p>
          <a:p>
            <a:pPr lvl="1" marL="643255" indent="-181610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43255" algn="l"/>
              </a:tabLst>
            </a:pPr>
            <a:r>
              <a:rPr dirty="0" sz="2400">
                <a:latin typeface="Times New Roman"/>
                <a:cs typeface="Times New Roman"/>
              </a:rPr>
              <a:t>executes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essential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steps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required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initiate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booting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process.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241935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Components</a:t>
            </a:r>
            <a:r>
              <a:rPr dirty="0" spc="-185"/>
              <a:t> </a:t>
            </a:r>
            <a:r>
              <a:rPr dirty="0"/>
              <a:t>of</a:t>
            </a:r>
            <a:r>
              <a:rPr dirty="0" spc="-190"/>
              <a:t> </a:t>
            </a:r>
            <a:r>
              <a:rPr dirty="0"/>
              <a:t>Boot</a:t>
            </a:r>
            <a:r>
              <a:rPr dirty="0" spc="-190"/>
              <a:t> </a:t>
            </a:r>
            <a:r>
              <a:rPr dirty="0" spc="-10"/>
              <a:t>Block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0757" y="1769736"/>
            <a:ext cx="10316210" cy="427799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191770" indent="-17907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 sz="2600">
                <a:latin typeface="Times New Roman"/>
                <a:cs typeface="Times New Roman"/>
              </a:rPr>
              <a:t>Boot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code,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also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called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bootstrap</a:t>
            </a:r>
            <a:r>
              <a:rPr dirty="0" sz="26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00" spc="-10" b="1">
                <a:solidFill>
                  <a:srgbClr val="FF0000"/>
                </a:solidFill>
                <a:latin typeface="Times New Roman"/>
                <a:cs typeface="Times New Roman"/>
              </a:rPr>
              <a:t>code</a:t>
            </a:r>
            <a:r>
              <a:rPr dirty="0" sz="2600" spc="-10">
                <a:latin typeface="Times New Roman"/>
                <a:cs typeface="Times New Roman"/>
              </a:rPr>
              <a:t>,</a:t>
            </a:r>
            <a:endParaRPr sz="2600">
              <a:latin typeface="Times New Roman"/>
              <a:cs typeface="Times New Roman"/>
            </a:endParaRPr>
          </a:p>
          <a:p>
            <a:pPr algn="just" lvl="1" marL="647700" indent="-18605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47700" algn="l"/>
              </a:tabLst>
            </a:pP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another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important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component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boot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block.</a:t>
            </a:r>
            <a:endParaRPr sz="2200">
              <a:latin typeface="Times New Roman"/>
              <a:cs typeface="Times New Roman"/>
            </a:endParaRPr>
          </a:p>
          <a:p>
            <a:pPr algn="just" lvl="1" marL="647065" marR="53975" indent="-186055">
              <a:lnSpc>
                <a:spcPts val="2380"/>
              </a:lnSpc>
              <a:spcBef>
                <a:spcPts val="535"/>
              </a:spcBef>
              <a:buFont typeface="Arial MT"/>
              <a:buChar char="•"/>
              <a:tabLst>
                <a:tab pos="648335" algn="l"/>
              </a:tabLst>
            </a:pPr>
            <a:r>
              <a:rPr dirty="0" sz="2200">
                <a:latin typeface="Times New Roman"/>
                <a:cs typeface="Times New Roman"/>
              </a:rPr>
              <a:t>Bootstrap</a:t>
            </a:r>
            <a:r>
              <a:rPr dirty="0" sz="2200" spc="9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code</a:t>
            </a:r>
            <a:r>
              <a:rPr dirty="0" sz="2200" spc="9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consists</a:t>
            </a:r>
            <a:r>
              <a:rPr dirty="0" sz="2200" spc="9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9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all</a:t>
            </a:r>
            <a:r>
              <a:rPr dirty="0" sz="2200" spc="9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100">
                <a:latin typeface="Times New Roman"/>
                <a:cs typeface="Times New Roman"/>
              </a:rPr>
              <a:t> 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essential</a:t>
            </a:r>
            <a:r>
              <a:rPr dirty="0" sz="2200" spc="90" b="1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instructions</a:t>
            </a:r>
            <a:r>
              <a:rPr dirty="0" sz="2200" spc="90" b="1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written</a:t>
            </a:r>
            <a:r>
              <a:rPr dirty="0" sz="2200" spc="90" b="1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dirty="0" sz="2200" spc="90" b="1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dirty="0" sz="2200" spc="-25" b="1">
                <a:solidFill>
                  <a:srgbClr val="FF0000"/>
                </a:solidFill>
                <a:latin typeface="Times New Roman"/>
                <a:cs typeface="Times New Roman"/>
              </a:rPr>
              <a:t>low-</a:t>
            </a:r>
            <a:r>
              <a:rPr dirty="0" sz="2200" spc="-10" b="1">
                <a:solidFill>
                  <a:srgbClr val="FF0000"/>
                </a:solidFill>
                <a:latin typeface="Times New Roman"/>
                <a:cs typeface="Times New Roman"/>
              </a:rPr>
              <a:t>level </a:t>
            </a:r>
            <a:r>
              <a:rPr dirty="0" sz="2200" spc="-10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language</a:t>
            </a:r>
            <a:r>
              <a:rPr dirty="0" sz="22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like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machine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language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assembly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language.</a:t>
            </a:r>
            <a:endParaRPr sz="2200">
              <a:latin typeface="Times New Roman"/>
              <a:cs typeface="Times New Roman"/>
            </a:endParaRPr>
          </a:p>
          <a:p>
            <a:pPr algn="just" lvl="1" marL="647065" marR="5080" indent="-186055">
              <a:lnSpc>
                <a:spcPts val="2380"/>
              </a:lnSpc>
              <a:spcBef>
                <a:spcPts val="490"/>
              </a:spcBef>
              <a:buFont typeface="Arial MT"/>
              <a:buChar char="•"/>
              <a:tabLst>
                <a:tab pos="648335" algn="l"/>
              </a:tabLst>
            </a:pPr>
            <a:r>
              <a:rPr dirty="0" sz="2200">
                <a:latin typeface="Times New Roman"/>
                <a:cs typeface="Times New Roman"/>
              </a:rPr>
              <a:t>Bootstrap</a:t>
            </a:r>
            <a:r>
              <a:rPr dirty="0" sz="2200" spc="3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code</a:t>
            </a:r>
            <a:r>
              <a:rPr dirty="0" sz="2200" spc="32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-</a:t>
            </a:r>
            <a:r>
              <a:rPr dirty="0" sz="2200" spc="3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performs</a:t>
            </a:r>
            <a:r>
              <a:rPr dirty="0" sz="2200" spc="3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important</a:t>
            </a:r>
            <a:r>
              <a:rPr dirty="0" sz="2200" spc="3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functions,</a:t>
            </a:r>
            <a:r>
              <a:rPr dirty="0" sz="2200" spc="3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including</a:t>
            </a:r>
            <a:r>
              <a:rPr dirty="0" sz="2200" spc="3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configuration</a:t>
            </a:r>
            <a:r>
              <a:rPr dirty="0" sz="2200" spc="3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3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system </a:t>
            </a:r>
            <a:r>
              <a:rPr dirty="0" sz="2200" spc="-10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components,</a:t>
            </a:r>
            <a:r>
              <a:rPr dirty="0" sz="2200" spc="3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initialization</a:t>
            </a:r>
            <a:r>
              <a:rPr dirty="0" sz="2200" spc="3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3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hardware</a:t>
            </a:r>
            <a:r>
              <a:rPr dirty="0" sz="2200" spc="3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parts,</a:t>
            </a:r>
            <a:r>
              <a:rPr dirty="0" sz="2200" spc="3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loading</a:t>
            </a:r>
            <a:r>
              <a:rPr dirty="0" sz="2200" spc="3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3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operating</a:t>
            </a:r>
            <a:r>
              <a:rPr dirty="0" sz="2200" spc="3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3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into</a:t>
            </a:r>
            <a:r>
              <a:rPr dirty="0" sz="2200" spc="39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the </a:t>
            </a:r>
            <a:r>
              <a:rPr dirty="0" sz="2200" spc="-25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main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memory,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etc.</a:t>
            </a:r>
            <a:endParaRPr sz="2200">
              <a:latin typeface="Times New Roman"/>
              <a:cs typeface="Times New Roman"/>
            </a:endParaRPr>
          </a:p>
          <a:p>
            <a:pPr algn="just" marL="191770" indent="-17907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 sz="2600">
                <a:latin typeface="Times New Roman"/>
                <a:cs typeface="Times New Roman"/>
              </a:rPr>
              <a:t>Partition</a:t>
            </a:r>
            <a:r>
              <a:rPr dirty="0" sz="2600" spc="-100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Table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another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important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component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boot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block.</a:t>
            </a:r>
            <a:endParaRPr sz="2600">
              <a:latin typeface="Times New Roman"/>
              <a:cs typeface="Times New Roman"/>
            </a:endParaRPr>
          </a:p>
          <a:p>
            <a:pPr algn="just" lvl="1" marL="647065" marR="17145" indent="-186055">
              <a:lnSpc>
                <a:spcPts val="2380"/>
              </a:lnSpc>
              <a:spcBef>
                <a:spcPts val="535"/>
              </a:spcBef>
              <a:buFont typeface="Arial MT"/>
              <a:buChar char="•"/>
              <a:tabLst>
                <a:tab pos="648335" algn="l"/>
              </a:tabLst>
            </a:pPr>
            <a:r>
              <a:rPr dirty="0" sz="2200">
                <a:latin typeface="Times New Roman"/>
                <a:cs typeface="Times New Roman"/>
              </a:rPr>
              <a:t>It</a:t>
            </a:r>
            <a:r>
              <a:rPr dirty="0" sz="2200" spc="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basically</a:t>
            </a:r>
            <a:r>
              <a:rPr dirty="0" sz="2200" spc="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55"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dirty="0" sz="2200" spc="5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table</a:t>
            </a:r>
            <a:r>
              <a:rPr dirty="0" sz="2200" spc="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dirty="0" sz="2200" spc="5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contains</a:t>
            </a:r>
            <a:r>
              <a:rPr dirty="0" sz="2200" spc="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information</a:t>
            </a:r>
            <a:r>
              <a:rPr dirty="0" sz="2200" spc="5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about</a:t>
            </a:r>
            <a:r>
              <a:rPr dirty="0" sz="2200" spc="5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2200" spc="5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different</a:t>
            </a:r>
            <a:r>
              <a:rPr dirty="0" sz="2200" spc="5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FF0000"/>
                </a:solidFill>
                <a:latin typeface="Times New Roman"/>
                <a:cs typeface="Times New Roman"/>
              </a:rPr>
              <a:t>partition </a:t>
            </a:r>
            <a:r>
              <a:rPr dirty="0" sz="2200" spc="-10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dirty="0" sz="22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22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dirty="0" sz="22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storage</a:t>
            </a:r>
            <a:r>
              <a:rPr dirty="0" sz="22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FF0000"/>
                </a:solidFill>
                <a:latin typeface="Times New Roman"/>
                <a:cs typeface="Times New Roman"/>
              </a:rPr>
              <a:t>device.</a:t>
            </a:r>
            <a:endParaRPr sz="2200">
              <a:latin typeface="Times New Roman"/>
              <a:cs typeface="Times New Roman"/>
            </a:endParaRPr>
          </a:p>
          <a:p>
            <a:pPr algn="just" lvl="1" marL="647065" marR="26670" indent="-186055">
              <a:lnSpc>
                <a:spcPts val="2380"/>
              </a:lnSpc>
              <a:spcBef>
                <a:spcPts val="495"/>
              </a:spcBef>
              <a:buFont typeface="Arial MT"/>
              <a:buChar char="•"/>
              <a:tabLst>
                <a:tab pos="648335" algn="l"/>
              </a:tabLst>
            </a:pPr>
            <a:r>
              <a:rPr dirty="0" sz="2200">
                <a:latin typeface="Times New Roman"/>
                <a:cs typeface="Times New Roman"/>
              </a:rPr>
              <a:t>It</a:t>
            </a:r>
            <a:r>
              <a:rPr dirty="0" sz="2200" spc="3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helps</a:t>
            </a:r>
            <a:r>
              <a:rPr dirty="0" sz="2200" spc="3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3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identifying</a:t>
            </a:r>
            <a:r>
              <a:rPr dirty="0" sz="2200" spc="3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355"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active</a:t>
            </a:r>
            <a:r>
              <a:rPr dirty="0" sz="2200" spc="3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partition</a:t>
            </a:r>
            <a:r>
              <a:rPr dirty="0" sz="2200" spc="3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dirty="0" sz="2200" spc="3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2200" spc="3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disk</a:t>
            </a:r>
            <a:r>
              <a:rPr dirty="0" sz="2200" spc="36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from</a:t>
            </a:r>
            <a:r>
              <a:rPr dirty="0" sz="2200" spc="3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which</a:t>
            </a:r>
            <a:r>
              <a:rPr dirty="0" sz="2200" spc="3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3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operating </a:t>
            </a:r>
            <a:r>
              <a:rPr dirty="0" sz="2200" spc="-10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loaded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into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main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memory.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3623945" marR="5080" indent="-3611879">
              <a:lnSpc>
                <a:spcPts val="4750"/>
              </a:lnSpc>
              <a:spcBef>
                <a:spcPts val="700"/>
              </a:spcBef>
            </a:pPr>
            <a:r>
              <a:rPr dirty="0"/>
              <a:t>Components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150"/>
              <a:t> </a:t>
            </a:r>
            <a:r>
              <a:rPr dirty="0"/>
              <a:t>Boot</a:t>
            </a:r>
            <a:r>
              <a:rPr dirty="0" spc="-150"/>
              <a:t> </a:t>
            </a:r>
            <a:r>
              <a:rPr dirty="0"/>
              <a:t>Block</a:t>
            </a:r>
            <a:r>
              <a:rPr dirty="0" spc="-150"/>
              <a:t> </a:t>
            </a:r>
            <a:r>
              <a:rPr dirty="0" spc="-50"/>
              <a:t>- </a:t>
            </a:r>
            <a:r>
              <a:rPr dirty="0" spc="-20"/>
              <a:t>Flow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916349"/>
            <a:ext cx="9753599" cy="42218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054" y="414683"/>
            <a:ext cx="539305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14470" algn="l"/>
              </a:tabLst>
            </a:pPr>
            <a:r>
              <a:rPr dirty="0">
                <a:latin typeface="Times New Roman"/>
                <a:cs typeface="Times New Roman"/>
              </a:rPr>
              <a:t>Some</a:t>
            </a:r>
            <a:r>
              <a:rPr dirty="0" spc="-20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important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dirty="0" spc="-10">
                <a:latin typeface="Times New Roman"/>
                <a:cs typeface="Times New Roman"/>
              </a:rPr>
              <a:t>terms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56583" y="1453500"/>
            <a:ext cx="10323195" cy="495744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94310" marR="27305" indent="-182245">
              <a:lnSpc>
                <a:spcPct val="70900"/>
              </a:lnSpc>
              <a:spcBef>
                <a:spcPts val="950"/>
              </a:spcBef>
              <a:buFont typeface="Arial MT"/>
              <a:buChar char="•"/>
              <a:tabLst>
                <a:tab pos="195580" algn="l"/>
              </a:tabLst>
            </a:pPr>
            <a:r>
              <a:rPr dirty="0" sz="2350">
                <a:latin typeface="Times New Roman"/>
                <a:cs typeface="Times New Roman"/>
              </a:rPr>
              <a:t>the</a:t>
            </a:r>
            <a:r>
              <a:rPr dirty="0" sz="2350" spc="33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initialization</a:t>
            </a:r>
            <a:r>
              <a:rPr dirty="0" sz="2350" spc="335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program</a:t>
            </a:r>
            <a:r>
              <a:rPr dirty="0" sz="2350" spc="34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known</a:t>
            </a:r>
            <a:r>
              <a:rPr dirty="0" sz="2350" spc="335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as</a:t>
            </a:r>
            <a:r>
              <a:rPr dirty="0" sz="2350" spc="350">
                <a:latin typeface="Times New Roman"/>
                <a:cs typeface="Times New Roman"/>
              </a:rPr>
              <a:t> </a:t>
            </a:r>
            <a:r>
              <a:rPr dirty="0" sz="2350" b="1">
                <a:latin typeface="Times New Roman"/>
                <a:cs typeface="Times New Roman"/>
              </a:rPr>
              <a:t>the</a:t>
            </a:r>
            <a:r>
              <a:rPr dirty="0" sz="2350" spc="340" b="1">
                <a:latin typeface="Times New Roman"/>
                <a:cs typeface="Times New Roman"/>
              </a:rPr>
              <a:t> </a:t>
            </a:r>
            <a:r>
              <a:rPr dirty="0" sz="2350" b="1">
                <a:latin typeface="Times New Roman"/>
                <a:cs typeface="Times New Roman"/>
              </a:rPr>
              <a:t>bootstrap</a:t>
            </a:r>
            <a:r>
              <a:rPr dirty="0" sz="2350" spc="335" b="1">
                <a:latin typeface="Times New Roman"/>
                <a:cs typeface="Times New Roman"/>
              </a:rPr>
              <a:t> </a:t>
            </a:r>
            <a:r>
              <a:rPr dirty="0" sz="2350" b="1">
                <a:latin typeface="Times New Roman"/>
                <a:cs typeface="Times New Roman"/>
              </a:rPr>
              <a:t>program</a:t>
            </a:r>
            <a:r>
              <a:rPr dirty="0" sz="2350" spc="345" b="1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which</a:t>
            </a:r>
            <a:r>
              <a:rPr dirty="0" sz="2350" spc="335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initialises</a:t>
            </a:r>
            <a:r>
              <a:rPr dirty="0" sz="2350" spc="340">
                <a:latin typeface="Times New Roman"/>
                <a:cs typeface="Times New Roman"/>
              </a:rPr>
              <a:t> </a:t>
            </a:r>
            <a:r>
              <a:rPr dirty="0" sz="2350" spc="-25">
                <a:latin typeface="Times New Roman"/>
                <a:cs typeface="Times New Roman"/>
              </a:rPr>
              <a:t>all </a:t>
            </a:r>
            <a:r>
              <a:rPr dirty="0" sz="2350" spc="-25">
                <a:latin typeface="Times New Roman"/>
                <a:cs typeface="Times New Roman"/>
              </a:rPr>
              <a:t>	</a:t>
            </a:r>
            <a:r>
              <a:rPr dirty="0" sz="2350">
                <a:latin typeface="Times New Roman"/>
                <a:cs typeface="Times New Roman"/>
              </a:rPr>
              <a:t>the</a:t>
            </a:r>
            <a:r>
              <a:rPr dirty="0" sz="2350" spc="4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components</a:t>
            </a:r>
            <a:r>
              <a:rPr dirty="0" sz="2350" spc="45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of</a:t>
            </a:r>
            <a:r>
              <a:rPr dirty="0" sz="2350" spc="5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the</a:t>
            </a:r>
            <a:r>
              <a:rPr dirty="0" sz="2350" spc="45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computer</a:t>
            </a:r>
            <a:r>
              <a:rPr dirty="0" sz="2350" spc="50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system:</a:t>
            </a:r>
            <a:endParaRPr sz="2350">
              <a:latin typeface="Times New Roman"/>
              <a:cs typeface="Times New Roman"/>
            </a:endParaRPr>
          </a:p>
          <a:p>
            <a:pPr lvl="1" marL="652780" marR="5080" indent="-189865">
              <a:lnSpc>
                <a:spcPct val="69700"/>
              </a:lnSpc>
              <a:spcBef>
                <a:spcPts val="495"/>
              </a:spcBef>
              <a:buFont typeface="Arial MT"/>
              <a:buChar char="•"/>
              <a:tabLst>
                <a:tab pos="652780" algn="l"/>
                <a:tab pos="1188720" algn="l"/>
                <a:tab pos="1826895" algn="l"/>
                <a:tab pos="2903220" algn="l"/>
                <a:tab pos="3711575" algn="l"/>
                <a:tab pos="5018405" algn="l"/>
                <a:tab pos="5526405" algn="l"/>
                <a:tab pos="6178550" algn="l"/>
                <a:tab pos="7175500" algn="l"/>
                <a:tab pos="7969884" algn="l"/>
                <a:tab pos="8881110" algn="l"/>
                <a:tab pos="9330690" algn="l"/>
              </a:tabLst>
            </a:pPr>
            <a:r>
              <a:rPr dirty="0" sz="2050" spc="-25">
                <a:latin typeface="Times New Roman"/>
                <a:cs typeface="Times New Roman"/>
              </a:rPr>
              <a:t>The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25">
                <a:latin typeface="Times New Roman"/>
                <a:cs typeface="Times New Roman"/>
              </a:rPr>
              <a:t>CPU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10">
                <a:latin typeface="Times New Roman"/>
                <a:cs typeface="Times New Roman"/>
              </a:rPr>
              <a:t>registers,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10">
                <a:latin typeface="Times New Roman"/>
                <a:cs typeface="Times New Roman"/>
              </a:rPr>
              <a:t>device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10">
                <a:latin typeface="Times New Roman"/>
                <a:cs typeface="Times New Roman"/>
              </a:rPr>
              <a:t>controllers,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25">
                <a:latin typeface="Times New Roman"/>
                <a:cs typeface="Times New Roman"/>
              </a:rPr>
              <a:t>and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20">
                <a:latin typeface="Times New Roman"/>
                <a:cs typeface="Times New Roman"/>
              </a:rPr>
              <a:t>main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10">
                <a:latin typeface="Times New Roman"/>
                <a:cs typeface="Times New Roman"/>
              </a:rPr>
              <a:t>memory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10">
                <a:latin typeface="Times New Roman"/>
                <a:cs typeface="Times New Roman"/>
              </a:rPr>
              <a:t>before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10">
                <a:latin typeface="Times New Roman"/>
                <a:cs typeface="Times New Roman"/>
              </a:rPr>
              <a:t>starting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25">
                <a:latin typeface="Times New Roman"/>
                <a:cs typeface="Times New Roman"/>
              </a:rPr>
              <a:t>the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10">
                <a:latin typeface="Times New Roman"/>
                <a:cs typeface="Times New Roman"/>
              </a:rPr>
              <a:t>operating system.</a:t>
            </a:r>
            <a:endParaRPr sz="2050">
              <a:latin typeface="Times New Roman"/>
              <a:cs typeface="Times New Roman"/>
            </a:endParaRPr>
          </a:p>
          <a:p>
            <a:pPr lvl="1" marL="652780" indent="-189865">
              <a:lnSpc>
                <a:spcPts val="2090"/>
              </a:lnSpc>
              <a:buFont typeface="Arial MT"/>
              <a:buChar char="•"/>
              <a:tabLst>
                <a:tab pos="652780" algn="l"/>
              </a:tabLst>
            </a:pPr>
            <a:r>
              <a:rPr dirty="0" sz="2050">
                <a:latin typeface="Times New Roman"/>
                <a:cs typeface="Times New Roman"/>
              </a:rPr>
              <a:t>Next,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bootstrap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program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loads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kernel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into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main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memory.</a:t>
            </a:r>
            <a:endParaRPr sz="2050">
              <a:latin typeface="Times New Roman"/>
              <a:cs typeface="Times New Roman"/>
            </a:endParaRPr>
          </a:p>
          <a:p>
            <a:pPr lvl="1" marL="652780" indent="-189865">
              <a:lnSpc>
                <a:spcPts val="2335"/>
              </a:lnSpc>
              <a:buFont typeface="Arial MT"/>
              <a:buChar char="•"/>
              <a:tabLst>
                <a:tab pos="652780" algn="l"/>
              </a:tabLst>
            </a:pPr>
            <a:r>
              <a:rPr dirty="0" sz="2050">
                <a:latin typeface="Times New Roman"/>
                <a:cs typeface="Times New Roman"/>
              </a:rPr>
              <a:t>it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jumps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to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initial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address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starts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operating-</a:t>
            </a:r>
            <a:r>
              <a:rPr dirty="0" sz="2050">
                <a:latin typeface="Times New Roman"/>
                <a:cs typeface="Times New Roman"/>
              </a:rPr>
              <a:t>system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execution.</a:t>
            </a:r>
            <a:endParaRPr sz="20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25"/>
              </a:spcBef>
              <a:buFont typeface="Arial MT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194945" indent="-182245">
              <a:lnSpc>
                <a:spcPts val="2695"/>
              </a:lnSpc>
              <a:buFont typeface="Arial MT"/>
              <a:buChar char="•"/>
              <a:tabLst>
                <a:tab pos="194945" algn="l"/>
              </a:tabLst>
            </a:pPr>
            <a:r>
              <a:rPr dirty="0" sz="2350">
                <a:latin typeface="Times New Roman"/>
                <a:cs typeface="Times New Roman"/>
              </a:rPr>
              <a:t>an</a:t>
            </a:r>
            <a:r>
              <a:rPr dirty="0" sz="2350" spc="3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outline</a:t>
            </a:r>
            <a:r>
              <a:rPr dirty="0" sz="2350" spc="35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of</a:t>
            </a:r>
            <a:r>
              <a:rPr dirty="0" sz="2350" spc="45">
                <a:latin typeface="Times New Roman"/>
                <a:cs typeface="Times New Roman"/>
              </a:rPr>
              <a:t> </a:t>
            </a:r>
            <a:r>
              <a:rPr dirty="0" sz="2350" b="1">
                <a:latin typeface="Times New Roman"/>
                <a:cs typeface="Times New Roman"/>
              </a:rPr>
              <a:t>the</a:t>
            </a:r>
            <a:r>
              <a:rPr dirty="0" sz="2350" spc="30" b="1">
                <a:latin typeface="Times New Roman"/>
                <a:cs typeface="Times New Roman"/>
              </a:rPr>
              <a:t> </a:t>
            </a:r>
            <a:r>
              <a:rPr dirty="0" sz="2350" b="1">
                <a:latin typeface="Times New Roman"/>
                <a:cs typeface="Times New Roman"/>
              </a:rPr>
              <a:t>booting</a:t>
            </a:r>
            <a:r>
              <a:rPr dirty="0" sz="2350" spc="30" b="1">
                <a:latin typeface="Times New Roman"/>
                <a:cs typeface="Times New Roman"/>
              </a:rPr>
              <a:t> </a:t>
            </a:r>
            <a:r>
              <a:rPr dirty="0" sz="2350" b="1">
                <a:latin typeface="Times New Roman"/>
                <a:cs typeface="Times New Roman"/>
              </a:rPr>
              <a:t>process</a:t>
            </a:r>
            <a:r>
              <a:rPr dirty="0" sz="2350" spc="35" b="1">
                <a:latin typeface="Times New Roman"/>
                <a:cs typeface="Times New Roman"/>
              </a:rPr>
              <a:t> </a:t>
            </a:r>
            <a:r>
              <a:rPr dirty="0" sz="2350" b="1">
                <a:latin typeface="Times New Roman"/>
                <a:cs typeface="Times New Roman"/>
              </a:rPr>
              <a:t>in</a:t>
            </a:r>
            <a:r>
              <a:rPr dirty="0" sz="2350" spc="-20" b="1">
                <a:latin typeface="Times New Roman"/>
                <a:cs typeface="Times New Roman"/>
              </a:rPr>
              <a:t> </a:t>
            </a:r>
            <a:r>
              <a:rPr dirty="0" sz="2350" b="1">
                <a:latin typeface="Times New Roman"/>
                <a:cs typeface="Times New Roman"/>
              </a:rPr>
              <a:t>Windows</a:t>
            </a:r>
            <a:r>
              <a:rPr dirty="0" sz="2350" spc="35" b="1">
                <a:latin typeface="Times New Roman"/>
                <a:cs typeface="Times New Roman"/>
              </a:rPr>
              <a:t> </a:t>
            </a:r>
            <a:r>
              <a:rPr dirty="0" sz="2350" spc="-10" b="1">
                <a:latin typeface="Times New Roman"/>
                <a:cs typeface="Times New Roman"/>
              </a:rPr>
              <a:t>2000.</a:t>
            </a:r>
            <a:endParaRPr sz="2350">
              <a:latin typeface="Times New Roman"/>
              <a:cs typeface="Times New Roman"/>
            </a:endParaRPr>
          </a:p>
          <a:p>
            <a:pPr lvl="1" marL="652780" marR="5080" indent="-189865">
              <a:lnSpc>
                <a:spcPct val="69700"/>
              </a:lnSpc>
              <a:spcBef>
                <a:spcPts val="620"/>
              </a:spcBef>
              <a:buFont typeface="Arial MT"/>
              <a:buChar char="•"/>
              <a:tabLst>
                <a:tab pos="652780" algn="l"/>
              </a:tabLst>
            </a:pP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hard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disk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is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divided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into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number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of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partitions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one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of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these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is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boot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partition, </a:t>
            </a:r>
            <a:r>
              <a:rPr dirty="0" sz="2050">
                <a:latin typeface="Times New Roman"/>
                <a:cs typeface="Times New Roman"/>
              </a:rPr>
              <a:t>which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contains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operating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system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as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well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as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device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drivers.</a:t>
            </a:r>
            <a:endParaRPr sz="2050">
              <a:latin typeface="Times New Roman"/>
              <a:cs typeface="Times New Roman"/>
            </a:endParaRPr>
          </a:p>
          <a:p>
            <a:pPr lvl="1" marL="652780" indent="-189865">
              <a:lnSpc>
                <a:spcPts val="2090"/>
              </a:lnSpc>
              <a:buFont typeface="Arial MT"/>
              <a:buChar char="•"/>
              <a:tabLst>
                <a:tab pos="652780" algn="l"/>
              </a:tabLst>
            </a:pP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booting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process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starts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by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running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code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placed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ROM.</a:t>
            </a:r>
            <a:endParaRPr sz="2050">
              <a:latin typeface="Times New Roman"/>
              <a:cs typeface="Times New Roman"/>
            </a:endParaRPr>
          </a:p>
          <a:p>
            <a:pPr lvl="1" marL="652780" marR="8255" indent="-189865">
              <a:lnSpc>
                <a:spcPct val="69700"/>
              </a:lnSpc>
              <a:spcBef>
                <a:spcPts val="620"/>
              </a:spcBef>
              <a:buFont typeface="Arial MT"/>
              <a:buChar char="•"/>
              <a:tabLst>
                <a:tab pos="652780" algn="l"/>
              </a:tabLst>
            </a:pPr>
            <a:r>
              <a:rPr dirty="0" sz="2050">
                <a:latin typeface="Times New Roman"/>
                <a:cs typeface="Times New Roman"/>
              </a:rPr>
              <a:t>This</a:t>
            </a:r>
            <a:r>
              <a:rPr dirty="0" sz="2050" spc="25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code</a:t>
            </a:r>
            <a:r>
              <a:rPr dirty="0" sz="2050" spc="2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that</a:t>
            </a:r>
            <a:r>
              <a:rPr dirty="0" sz="2050" spc="25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was</a:t>
            </a:r>
            <a:r>
              <a:rPr dirty="0" sz="2050" spc="25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placed</a:t>
            </a:r>
            <a:r>
              <a:rPr dirty="0" sz="2050" spc="2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25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25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ROM</a:t>
            </a:r>
            <a:r>
              <a:rPr dirty="0" sz="2050" spc="2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allows</a:t>
            </a:r>
            <a:r>
              <a:rPr dirty="0" sz="2050" spc="25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25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system</a:t>
            </a:r>
            <a:r>
              <a:rPr dirty="0" sz="2050" spc="2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to</a:t>
            </a:r>
            <a:r>
              <a:rPr dirty="0" sz="2050" spc="25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read</a:t>
            </a:r>
            <a:r>
              <a:rPr dirty="0" sz="2050" spc="25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code</a:t>
            </a:r>
            <a:r>
              <a:rPr dirty="0" sz="2050" spc="2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directly</a:t>
            </a:r>
            <a:r>
              <a:rPr dirty="0" sz="2050" spc="254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from</a:t>
            </a:r>
            <a:r>
              <a:rPr dirty="0" sz="2050" spc="254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the </a:t>
            </a:r>
            <a:r>
              <a:rPr dirty="0" sz="2050">
                <a:latin typeface="Times New Roman"/>
                <a:cs typeface="Times New Roman"/>
              </a:rPr>
              <a:t>master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boot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record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or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MBR.</a:t>
            </a:r>
            <a:endParaRPr sz="2050">
              <a:latin typeface="Times New Roman"/>
              <a:cs typeface="Times New Roman"/>
            </a:endParaRPr>
          </a:p>
          <a:p>
            <a:pPr lvl="1" marL="652780" marR="21590" indent="-189865">
              <a:lnSpc>
                <a:spcPct val="69700"/>
              </a:lnSpc>
              <a:spcBef>
                <a:spcPts val="500"/>
              </a:spcBef>
              <a:buFont typeface="Arial MT"/>
              <a:buChar char="•"/>
              <a:tabLst>
                <a:tab pos="652780" algn="l"/>
              </a:tabLst>
            </a:pPr>
            <a:r>
              <a:rPr dirty="0" sz="2050">
                <a:latin typeface="Times New Roman"/>
                <a:cs typeface="Times New Roman"/>
              </a:rPr>
              <a:t>A</a:t>
            </a:r>
            <a:r>
              <a:rPr dirty="0" sz="2050" spc="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table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that</a:t>
            </a:r>
            <a:r>
              <a:rPr dirty="0" sz="2050" spc="1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lists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hard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disk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partitions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and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flag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indicating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partition</a:t>
            </a:r>
            <a:r>
              <a:rPr dirty="0" sz="2050" spc="1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to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be</a:t>
            </a:r>
            <a:r>
              <a:rPr dirty="0" sz="2050" spc="1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booted</a:t>
            </a:r>
            <a:r>
              <a:rPr dirty="0" sz="2050" spc="150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is </a:t>
            </a:r>
            <a:r>
              <a:rPr dirty="0" sz="2050">
                <a:latin typeface="Times New Roman"/>
                <a:cs typeface="Times New Roman"/>
              </a:rPr>
              <a:t>also</a:t>
            </a:r>
            <a:r>
              <a:rPr dirty="0" sz="2050" spc="-5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contained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-45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MBR.</a:t>
            </a:r>
            <a:endParaRPr sz="2050">
              <a:latin typeface="Times New Roman"/>
              <a:cs typeface="Times New Roman"/>
            </a:endParaRPr>
          </a:p>
          <a:p>
            <a:pPr lvl="1" marL="652780" indent="-189865">
              <a:lnSpc>
                <a:spcPts val="1839"/>
              </a:lnSpc>
              <a:buFont typeface="Arial MT"/>
              <a:buChar char="•"/>
              <a:tabLst>
                <a:tab pos="652780" algn="l"/>
                <a:tab pos="1326515" algn="l"/>
                <a:tab pos="2590800" algn="l"/>
                <a:tab pos="4690745" algn="l"/>
                <a:tab pos="6652895" algn="l"/>
                <a:tab pos="8428355" algn="l"/>
                <a:tab pos="9803765" algn="l"/>
              </a:tabLst>
            </a:pPr>
            <a:r>
              <a:rPr dirty="0" sz="2050" spc="-10">
                <a:latin typeface="Times New Roman"/>
                <a:cs typeface="Times New Roman"/>
              </a:rPr>
              <a:t>After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10">
                <a:latin typeface="Times New Roman"/>
                <a:cs typeface="Times New Roman"/>
              </a:rPr>
              <a:t>identifying</a:t>
            </a:r>
            <a:r>
              <a:rPr dirty="0" sz="2050">
                <a:latin typeface="Times New Roman"/>
                <a:cs typeface="Times New Roman"/>
              </a:rPr>
              <a:t>	the</a:t>
            </a:r>
            <a:r>
              <a:rPr dirty="0" sz="2050" spc="4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boot</a:t>
            </a:r>
            <a:r>
              <a:rPr dirty="0" sz="2050" spc="44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partition,</a:t>
            </a:r>
            <a:r>
              <a:rPr dirty="0" sz="2050">
                <a:latin typeface="Times New Roman"/>
                <a:cs typeface="Times New Roman"/>
              </a:rPr>
              <a:t>	the</a:t>
            </a:r>
            <a:r>
              <a:rPr dirty="0" sz="2050" spc="409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system</a:t>
            </a:r>
            <a:r>
              <a:rPr dirty="0" sz="2050" spc="42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reads</a:t>
            </a:r>
            <a:r>
              <a:rPr dirty="0" sz="2050">
                <a:latin typeface="Times New Roman"/>
                <a:cs typeface="Times New Roman"/>
              </a:rPr>
              <a:t>	the</a:t>
            </a:r>
            <a:r>
              <a:rPr dirty="0" sz="2050" spc="42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boot</a:t>
            </a:r>
            <a:r>
              <a:rPr dirty="0" sz="2050" spc="44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sector</a:t>
            </a:r>
            <a:r>
              <a:rPr dirty="0" sz="2050">
                <a:latin typeface="Times New Roman"/>
                <a:cs typeface="Times New Roman"/>
              </a:rPr>
              <a:t>	(first</a:t>
            </a:r>
            <a:r>
              <a:rPr dirty="0" sz="2050" spc="36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sector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20">
                <a:latin typeface="Times New Roman"/>
                <a:cs typeface="Times New Roman"/>
              </a:rPr>
              <a:t>from</a:t>
            </a:r>
            <a:endParaRPr sz="2050">
              <a:latin typeface="Times New Roman"/>
              <a:cs typeface="Times New Roman"/>
            </a:endParaRPr>
          </a:p>
          <a:p>
            <a:pPr marL="652780" marR="10795">
              <a:lnSpc>
                <a:spcPct val="69700"/>
              </a:lnSpc>
              <a:spcBef>
                <a:spcPts val="375"/>
              </a:spcBef>
            </a:pPr>
            <a:r>
              <a:rPr dirty="0" sz="2050">
                <a:latin typeface="Times New Roman"/>
                <a:cs typeface="Times New Roman"/>
              </a:rPr>
              <a:t>memory).</a:t>
            </a:r>
            <a:r>
              <a:rPr dirty="0" sz="2050" spc="13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1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process</a:t>
            </a:r>
            <a:r>
              <a:rPr dirty="0" sz="2050" spc="1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continues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with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the</a:t>
            </a:r>
            <a:r>
              <a:rPr dirty="0" sz="2050" spc="1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remaining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boot</a:t>
            </a:r>
            <a:r>
              <a:rPr dirty="0" sz="2050" spc="1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process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that</a:t>
            </a:r>
            <a:r>
              <a:rPr dirty="0" sz="2050" spc="17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includes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loading</a:t>
            </a:r>
            <a:r>
              <a:rPr dirty="0" sz="2050" spc="180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of </a:t>
            </a:r>
            <a:r>
              <a:rPr dirty="0" sz="2050">
                <a:latin typeface="Times New Roman"/>
                <a:cs typeface="Times New Roman"/>
              </a:rPr>
              <a:t>other</a:t>
            </a:r>
            <a:r>
              <a:rPr dirty="0" sz="2050" spc="-7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system</a:t>
            </a:r>
            <a:r>
              <a:rPr dirty="0" sz="2050" spc="-6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services.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1.2 Boot Block</dc:title>
  <dcterms:created xsi:type="dcterms:W3CDTF">2025-02-26T02:42:25Z</dcterms:created>
  <dcterms:modified xsi:type="dcterms:W3CDTF">2025-02-26T02:42:25Z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2025-02-26T00:00:00Z</vt:filetime>
  </property>
</Properties>
</file>