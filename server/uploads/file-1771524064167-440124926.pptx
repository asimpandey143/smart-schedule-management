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89498" y="1718761"/>
            <a:ext cx="5313680" cy="421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523139" y="1761892"/>
            <a:ext cx="5298440" cy="4058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2775" y="335705"/>
            <a:ext cx="10006448" cy="12998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3627" y="1847969"/>
            <a:ext cx="10304745" cy="3348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2501" y="2532570"/>
            <a:ext cx="2803525" cy="9398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0" spc="-10"/>
              <a:t>Kernel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1658" y="482777"/>
            <a:ext cx="3987165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Introduction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6739" y="1617306"/>
            <a:ext cx="7614284" cy="264795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91770" marR="36830" indent="-179705">
              <a:lnSpc>
                <a:spcPts val="3110"/>
              </a:lnSpc>
              <a:spcBef>
                <a:spcPts val="200"/>
              </a:spcBef>
              <a:buFont typeface="Arial MT"/>
              <a:buChar char="•"/>
              <a:tabLst>
                <a:tab pos="191770" algn="l"/>
                <a:tab pos="870585" algn="l"/>
                <a:tab pos="1859280" algn="l"/>
                <a:tab pos="2246630" algn="l"/>
                <a:tab pos="2820670" algn="l"/>
                <a:tab pos="3973195" algn="l"/>
                <a:tab pos="5697220" algn="l"/>
                <a:tab pos="6139815" algn="l"/>
              </a:tabLst>
            </a:pPr>
            <a:r>
              <a:rPr dirty="0" sz="2600" spc="-25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kernel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25">
                <a:solidFill>
                  <a:srgbClr val="666666"/>
                </a:solidFill>
                <a:latin typeface="Times New Roman"/>
                <a:cs typeface="Times New Roman"/>
              </a:rPr>
              <a:t>is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25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central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component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600" spc="-25">
                <a:solidFill>
                  <a:srgbClr val="666666"/>
                </a:solidFill>
                <a:latin typeface="Times New Roman"/>
                <a:cs typeface="Times New Roman"/>
              </a:rPr>
              <a:t>of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computer's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operating</a:t>
            </a:r>
            <a:r>
              <a:rPr dirty="0" sz="2600" spc="-10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system.</a:t>
            </a:r>
            <a:endParaRPr sz="2600">
              <a:latin typeface="Times New Roman"/>
              <a:cs typeface="Times New Roman"/>
            </a:endParaRPr>
          </a:p>
          <a:p>
            <a:pPr marL="191770" indent="-179070">
              <a:lnSpc>
                <a:spcPts val="3115"/>
              </a:lnSpc>
              <a:spcBef>
                <a:spcPts val="88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It</a:t>
            </a:r>
            <a:r>
              <a:rPr dirty="0" sz="2600" spc="-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act</a:t>
            </a:r>
            <a:r>
              <a:rPr dirty="0" sz="2600" spc="-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as</a:t>
            </a:r>
            <a:r>
              <a:rPr dirty="0" sz="2600" spc="-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an interface</a:t>
            </a:r>
            <a:r>
              <a:rPr dirty="0" sz="2600" spc="-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between</a:t>
            </a:r>
            <a:r>
              <a:rPr dirty="0" sz="2600" spc="3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user</a:t>
            </a:r>
            <a:r>
              <a:rPr dirty="0" sz="2600" spc="-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applications</a:t>
            </a:r>
            <a:r>
              <a:rPr dirty="0" sz="2600" spc="1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and </a:t>
            </a:r>
            <a:r>
              <a:rPr dirty="0" sz="2600" spc="-25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endParaRPr sz="2600">
              <a:latin typeface="Times New Roman"/>
              <a:cs typeface="Times New Roman"/>
            </a:endParaRPr>
          </a:p>
          <a:p>
            <a:pPr marL="191770">
              <a:lnSpc>
                <a:spcPts val="3115"/>
              </a:lnSpc>
            </a:pPr>
            <a:r>
              <a:rPr dirty="0" sz="2600" b="1">
                <a:solidFill>
                  <a:srgbClr val="666666"/>
                </a:solidFill>
                <a:latin typeface="Times New Roman"/>
                <a:cs typeface="Times New Roman"/>
              </a:rPr>
              <a:t>actual</a:t>
            </a:r>
            <a:r>
              <a:rPr dirty="0" sz="2600" spc="-90" b="1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666666"/>
                </a:solidFill>
                <a:latin typeface="Times New Roman"/>
                <a:cs typeface="Times New Roman"/>
              </a:rPr>
              <a:t>data</a:t>
            </a:r>
            <a:r>
              <a:rPr dirty="0" sz="2600" spc="-85" b="1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666666"/>
                </a:solidFill>
                <a:latin typeface="Times New Roman"/>
                <a:cs typeface="Times New Roman"/>
              </a:rPr>
              <a:t>processing</a:t>
            </a:r>
            <a:r>
              <a:rPr dirty="0" sz="2600" spc="-70" b="1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at</a:t>
            </a:r>
            <a:r>
              <a:rPr dirty="0" sz="2600" spc="-8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dirty="0" sz="2600" spc="-8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hardware</a:t>
            </a:r>
            <a:r>
              <a:rPr dirty="0" sz="2600" spc="-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0000"/>
                </a:solidFill>
                <a:latin typeface="Times New Roman"/>
                <a:cs typeface="Times New Roman"/>
              </a:rPr>
              <a:t>level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.</a:t>
            </a:r>
            <a:endParaRPr sz="2600">
              <a:latin typeface="Times New Roman"/>
              <a:cs typeface="Times New Roman"/>
            </a:endParaRPr>
          </a:p>
          <a:p>
            <a:pPr marL="191770" marR="23495" indent="-179705">
              <a:lnSpc>
                <a:spcPts val="3110"/>
              </a:lnSpc>
              <a:spcBef>
                <a:spcPts val="109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It</a:t>
            </a:r>
            <a:r>
              <a:rPr dirty="0" sz="2600" spc="24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is</a:t>
            </a:r>
            <a:r>
              <a:rPr dirty="0" sz="2600" spc="2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dirty="0" sz="2600" spc="26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666666"/>
                </a:solidFill>
                <a:latin typeface="Times New Roman"/>
                <a:cs typeface="Times New Roman"/>
              </a:rPr>
              <a:t>core</a:t>
            </a:r>
            <a:r>
              <a:rPr dirty="0" sz="2600" spc="254" b="1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that</a:t>
            </a:r>
            <a:r>
              <a:rPr dirty="0" sz="2600" spc="24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provides</a:t>
            </a:r>
            <a:r>
              <a:rPr dirty="0" sz="2600" spc="254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basic</a:t>
            </a:r>
            <a:r>
              <a:rPr dirty="0" sz="2600" spc="24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services</a:t>
            </a:r>
            <a:r>
              <a:rPr dirty="0" sz="2600" spc="254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for</a:t>
            </a:r>
            <a:r>
              <a:rPr dirty="0" sz="2600" spc="2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all</a:t>
            </a:r>
            <a:r>
              <a:rPr dirty="0" sz="2600" spc="2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other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parts</a:t>
            </a:r>
            <a:r>
              <a:rPr dirty="0" sz="2600" spc="-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of</a:t>
            </a:r>
            <a:r>
              <a:rPr dirty="0" sz="2600" spc="-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dirty="0" sz="2600" spc="-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666666"/>
                </a:solidFill>
                <a:latin typeface="Times New Roman"/>
                <a:cs typeface="Times New Roman"/>
              </a:rPr>
              <a:t>OS.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36739" y="4366602"/>
            <a:ext cx="1967864" cy="120967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just" marL="191770" marR="5080" indent="-179705">
              <a:lnSpc>
                <a:spcPts val="3110"/>
              </a:lnSpc>
              <a:spcBef>
                <a:spcPts val="19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Helps</a:t>
            </a:r>
            <a:r>
              <a:rPr dirty="0" sz="2600" spc="545">
                <a:solidFill>
                  <a:srgbClr val="666666"/>
                </a:solidFill>
                <a:latin typeface="Times New Roman"/>
                <a:cs typeface="Times New Roman"/>
              </a:rPr>
              <a:t>  </a:t>
            </a:r>
            <a:r>
              <a:rPr dirty="0" sz="2600" spc="-20">
                <a:solidFill>
                  <a:srgbClr val="666666"/>
                </a:solidFill>
                <a:latin typeface="Times New Roman"/>
                <a:cs typeface="Times New Roman"/>
              </a:rPr>
              <a:t>with 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management, networking.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98828" y="4366602"/>
            <a:ext cx="2190750" cy="8153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58115" marR="5080" indent="-146050">
              <a:lnSpc>
                <a:spcPts val="3110"/>
              </a:lnSpc>
              <a:spcBef>
                <a:spcPts val="195"/>
              </a:spcBef>
              <a:tabLst>
                <a:tab pos="961390" algn="l"/>
                <a:tab pos="985519" algn="l"/>
                <a:tab pos="1903730" algn="l"/>
              </a:tabLst>
            </a:pP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tasks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	</a:t>
            </a:r>
            <a:r>
              <a:rPr dirty="0" sz="2600" spc="-20">
                <a:solidFill>
                  <a:srgbClr val="666666"/>
                </a:solidFill>
                <a:latin typeface="Times New Roman"/>
                <a:cs typeface="Times New Roman"/>
              </a:rPr>
              <a:t>such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35">
                <a:solidFill>
                  <a:srgbClr val="666666"/>
                </a:solidFill>
                <a:latin typeface="Times New Roman"/>
                <a:cs typeface="Times New Roman"/>
              </a:rPr>
              <a:t>as </a:t>
            </a:r>
            <a:r>
              <a:rPr dirty="0" sz="2600" spc="-20">
                <a:solidFill>
                  <a:srgbClr val="666666"/>
                </a:solidFill>
                <a:latin typeface="Times New Roman"/>
                <a:cs typeface="Times New Roman"/>
              </a:rPr>
              <a:t>file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systems,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638162" y="4366602"/>
            <a:ext cx="3021965" cy="8153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2700" marR="5080" indent="41275">
              <a:lnSpc>
                <a:spcPts val="3110"/>
              </a:lnSpc>
              <a:spcBef>
                <a:spcPts val="195"/>
              </a:spcBef>
              <a:tabLst>
                <a:tab pos="1235075" algn="l"/>
                <a:tab pos="1355090" algn="l"/>
                <a:tab pos="2531110" algn="l"/>
              </a:tabLst>
            </a:pP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process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	and</a:t>
            </a:r>
            <a:r>
              <a:rPr dirty="0" sz="2600" spc="-4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memory device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control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	</a:t>
            </a:r>
            <a:r>
              <a:rPr dirty="0" sz="2600" spc="-25">
                <a:solidFill>
                  <a:srgbClr val="666666"/>
                </a:solidFill>
                <a:latin typeface="Times New Roman"/>
                <a:cs typeface="Times New Roman"/>
              </a:rPr>
              <a:t>and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6739" y="5677751"/>
            <a:ext cx="7618730" cy="815340"/>
          </a:xfrm>
          <a:prstGeom prst="rect">
            <a:avLst/>
          </a:prstGeom>
        </p:spPr>
        <p:txBody>
          <a:bodyPr wrap="square" lIns="0" tIns="24765" rIns="0" bIns="0" rtlCol="0" vert="horz">
            <a:spAutoFit/>
          </a:bodyPr>
          <a:lstStyle/>
          <a:p>
            <a:pPr marL="191770" marR="5080" indent="-179705">
              <a:lnSpc>
                <a:spcPts val="3110"/>
              </a:lnSpc>
              <a:spcBef>
                <a:spcPts val="19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When</a:t>
            </a:r>
            <a:r>
              <a:rPr dirty="0" sz="2600" spc="19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</a:t>
            </a:r>
            <a:r>
              <a:rPr dirty="0" sz="2600" spc="19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process</a:t>
            </a:r>
            <a:r>
              <a:rPr dirty="0" sz="2600" spc="20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makes</a:t>
            </a:r>
            <a:r>
              <a:rPr dirty="0" sz="2600" spc="19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request</a:t>
            </a:r>
            <a:r>
              <a:rPr dirty="0" sz="2600" spc="19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of</a:t>
            </a:r>
            <a:r>
              <a:rPr dirty="0" sz="2600" spc="19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</a:t>
            </a:r>
            <a:r>
              <a:rPr dirty="0" sz="2600" spc="19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kernel,</a:t>
            </a:r>
            <a:r>
              <a:rPr dirty="0" sz="2600" spc="19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the</a:t>
            </a:r>
            <a:r>
              <a:rPr dirty="0" sz="2600" spc="19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666666"/>
                </a:solidFill>
                <a:latin typeface="Times New Roman"/>
                <a:cs typeface="Times New Roman"/>
              </a:rPr>
              <a:t>request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is</a:t>
            </a:r>
            <a:r>
              <a:rPr dirty="0" sz="2600" spc="-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called</a:t>
            </a:r>
            <a:r>
              <a:rPr dirty="0" sz="2600" spc="-50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666666"/>
                </a:solidFill>
                <a:latin typeface="Times New Roman"/>
                <a:cs typeface="Times New Roman"/>
              </a:rPr>
              <a:t>a</a:t>
            </a:r>
            <a:r>
              <a:rPr dirty="0" sz="2600" spc="-45">
                <a:solidFill>
                  <a:srgbClr val="6666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0000"/>
                </a:solidFill>
                <a:latin typeface="Times New Roman"/>
                <a:cs typeface="Times New Roman"/>
              </a:rPr>
              <a:t>system</a:t>
            </a:r>
            <a:r>
              <a:rPr dirty="0" sz="2600" spc="-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600" spc="-20" b="1">
                <a:solidFill>
                  <a:srgbClr val="FF0000"/>
                </a:solidFill>
                <a:latin typeface="Times New Roman"/>
                <a:cs typeface="Times New Roman"/>
              </a:rPr>
              <a:t>call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03547" y="2137793"/>
            <a:ext cx="2867424" cy="334374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1009650">
              <a:lnSpc>
                <a:spcPct val="100000"/>
              </a:lnSpc>
              <a:spcBef>
                <a:spcPts val="100"/>
              </a:spcBef>
            </a:pPr>
            <a:r>
              <a:rPr dirty="0"/>
              <a:t>Responsibilities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Kernel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2"/>
            <a:ext cx="10309225" cy="3969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Times New Roman"/>
                <a:cs typeface="Times New Roman"/>
              </a:rPr>
              <a:t>Central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Processing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20">
                <a:latin typeface="Times New Roman"/>
                <a:cs typeface="Times New Roman"/>
              </a:rPr>
              <a:t>Unit</a:t>
            </a:r>
            <a:endParaRPr sz="2800">
              <a:latin typeface="Times New Roman"/>
              <a:cs typeface="Times New Roman"/>
            </a:endParaRPr>
          </a:p>
          <a:p>
            <a:pPr lvl="1" marL="643890" marR="13970" indent="-174625">
              <a:lnSpc>
                <a:spcPts val="3020"/>
              </a:lnSpc>
              <a:spcBef>
                <a:spcPts val="545"/>
              </a:spcBef>
              <a:buFont typeface="Arial MT"/>
              <a:buChar char="•"/>
              <a:tabLst>
                <a:tab pos="645160" algn="l"/>
              </a:tabLst>
            </a:pPr>
            <a:r>
              <a:rPr dirty="0" sz="2800">
                <a:latin typeface="Times New Roman"/>
                <a:cs typeface="Times New Roman"/>
              </a:rPr>
              <a:t>Kernel</a:t>
            </a:r>
            <a:r>
              <a:rPr dirty="0" sz="2800" spc="7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take</a:t>
            </a:r>
            <a:r>
              <a:rPr dirty="0" sz="2800" spc="8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responsibility</a:t>
            </a:r>
            <a:r>
              <a:rPr dirty="0" sz="2800" spc="8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for</a:t>
            </a:r>
            <a:r>
              <a:rPr dirty="0" sz="2800" spc="110"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deciding</a:t>
            </a:r>
            <a:r>
              <a:rPr dirty="0" sz="2800" spc="8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which</a:t>
            </a:r>
            <a:r>
              <a:rPr dirty="0" sz="2800" spc="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program</a:t>
            </a:r>
            <a:r>
              <a:rPr dirty="0" sz="2800" spc="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should</a:t>
            </a:r>
            <a:r>
              <a:rPr dirty="0" sz="2800" spc="8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25" b="1">
                <a:solidFill>
                  <a:srgbClr val="FF0000"/>
                </a:solidFill>
                <a:latin typeface="Times New Roman"/>
                <a:cs typeface="Times New Roman"/>
              </a:rPr>
              <a:t>be </a:t>
            </a:r>
            <a:r>
              <a:rPr dirty="0" sz="2800" spc="-25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allocated</a:t>
            </a:r>
            <a:r>
              <a:rPr dirty="0" sz="2800" spc="-6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to</a:t>
            </a:r>
            <a:r>
              <a:rPr dirty="0" sz="28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which</a:t>
            </a:r>
            <a:r>
              <a:rPr dirty="0" sz="2800" spc="-5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processors</a:t>
            </a:r>
            <a:r>
              <a:rPr dirty="0" sz="2800" spc="-4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all</a:t>
            </a:r>
            <a:r>
              <a:rPr dirty="0" sz="2800" spc="-5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4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time.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 spc="-10">
                <a:latin typeface="Times New Roman"/>
                <a:cs typeface="Times New Roman"/>
              </a:rPr>
              <a:t>Random</a:t>
            </a:r>
            <a:r>
              <a:rPr dirty="0" sz="2800" spc="-16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Access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Memory</a:t>
            </a:r>
            <a:endParaRPr sz="2800">
              <a:latin typeface="Times New Roman"/>
              <a:cs typeface="Times New Roman"/>
            </a:endParaRPr>
          </a:p>
          <a:p>
            <a:pPr lvl="1" marL="643890" marR="29845" indent="-174625">
              <a:lnSpc>
                <a:spcPts val="3020"/>
              </a:lnSpc>
              <a:spcBef>
                <a:spcPts val="550"/>
              </a:spcBef>
              <a:buFont typeface="Arial MT"/>
              <a:buChar char="•"/>
              <a:tabLst>
                <a:tab pos="645160" algn="l"/>
                <a:tab pos="1750695" algn="l"/>
                <a:tab pos="2127885" algn="l"/>
                <a:tab pos="3884295" algn="l"/>
                <a:tab pos="4443730" algn="l"/>
                <a:tab pos="5868035" algn="l"/>
                <a:tab pos="6917055" algn="l"/>
                <a:tab pos="8321040" algn="l"/>
                <a:tab pos="9152255" algn="l"/>
              </a:tabLst>
            </a:pPr>
            <a:r>
              <a:rPr dirty="0" sz="2800" spc="-10">
                <a:latin typeface="Times New Roman"/>
                <a:cs typeface="Times New Roman"/>
              </a:rPr>
              <a:t>Kernel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is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>
                <a:latin typeface="Times New Roman"/>
                <a:cs typeface="Times New Roman"/>
              </a:rPr>
              <a:t>responsible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25">
                <a:latin typeface="Times New Roman"/>
                <a:cs typeface="Times New Roman"/>
              </a:rPr>
              <a:t>for</a:t>
            </a:r>
            <a:r>
              <a:rPr dirty="0" sz="2800"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deciding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which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each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process 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can</a:t>
            </a:r>
            <a:r>
              <a:rPr dirty="0" sz="2800" spc="-1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use.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Times New Roman"/>
                <a:cs typeface="Times New Roman"/>
              </a:rPr>
              <a:t>Input/Output</a:t>
            </a:r>
            <a:r>
              <a:rPr dirty="0" sz="2800" spc="-6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Devices</a:t>
            </a:r>
            <a:endParaRPr sz="2800">
              <a:latin typeface="Times New Roman"/>
              <a:cs typeface="Times New Roman"/>
            </a:endParaRPr>
          </a:p>
          <a:p>
            <a:pPr lvl="1" marL="643890" marR="5080" indent="-174625">
              <a:lnSpc>
                <a:spcPts val="3020"/>
              </a:lnSpc>
              <a:spcBef>
                <a:spcPts val="550"/>
              </a:spcBef>
              <a:buFont typeface="Arial MT"/>
              <a:buChar char="•"/>
              <a:tabLst>
                <a:tab pos="645160" algn="l"/>
              </a:tabLst>
            </a:pPr>
            <a:r>
              <a:rPr dirty="0" sz="2800">
                <a:latin typeface="Times New Roman"/>
                <a:cs typeface="Times New Roman"/>
              </a:rPr>
              <a:t>Kernel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allocate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request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from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applications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4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perform</a:t>
            </a:r>
            <a:r>
              <a:rPr dirty="0" sz="2800" spc="120"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I/O</a:t>
            </a:r>
            <a:r>
              <a:rPr dirty="0" sz="2800" spc="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task</a:t>
            </a:r>
            <a:r>
              <a:rPr dirty="0" sz="2800" spc="4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with 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800" spc="-9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connection</a:t>
            </a:r>
            <a:r>
              <a:rPr dirty="0" sz="2800" spc="-9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with</a:t>
            </a:r>
            <a:r>
              <a:rPr dirty="0" sz="2800" spc="-9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appropriate</a:t>
            </a:r>
            <a:r>
              <a:rPr dirty="0" sz="2800" spc="-9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device.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1009650">
              <a:lnSpc>
                <a:spcPct val="100000"/>
              </a:lnSpc>
              <a:spcBef>
                <a:spcPts val="100"/>
              </a:spcBef>
            </a:pPr>
            <a:r>
              <a:rPr dirty="0"/>
              <a:t>Responsibilities</a:t>
            </a:r>
            <a:r>
              <a:rPr dirty="0" spc="-70"/>
              <a:t> </a:t>
            </a:r>
            <a:r>
              <a:rPr dirty="0"/>
              <a:t>of</a:t>
            </a:r>
            <a:r>
              <a:rPr dirty="0" spc="-75"/>
              <a:t> </a:t>
            </a:r>
            <a:r>
              <a:rPr dirty="0" spc="-10"/>
              <a:t>Kernel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9933940" cy="2626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Times New Roman"/>
                <a:cs typeface="Times New Roman"/>
              </a:rPr>
              <a:t>Memory </a:t>
            </a:r>
            <a:r>
              <a:rPr dirty="0" sz="2800" spc="-1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 lvl="1" marL="643890" marR="5080" indent="-174625">
              <a:lnSpc>
                <a:spcPts val="3020"/>
              </a:lnSpc>
              <a:spcBef>
                <a:spcPts val="545"/>
              </a:spcBef>
              <a:buFont typeface="Arial MT"/>
              <a:buChar char="•"/>
              <a:tabLst>
                <a:tab pos="645160" algn="l"/>
              </a:tabLst>
            </a:pPr>
            <a:r>
              <a:rPr dirty="0" sz="2800">
                <a:latin typeface="Times New Roman"/>
                <a:cs typeface="Times New Roman"/>
              </a:rPr>
              <a:t>Kernel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has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full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access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the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system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memory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and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allow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processes 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to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safely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access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the</a:t>
            </a:r>
            <a:r>
              <a:rPr dirty="0" sz="2800" spc="-25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memory</a:t>
            </a:r>
            <a:r>
              <a:rPr dirty="0" sz="2800" spc="-2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whenever</a:t>
            </a:r>
            <a:r>
              <a:rPr dirty="0" sz="2800" spc="-7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required</a:t>
            </a:r>
            <a:r>
              <a:rPr dirty="0" sz="2800" spc="-1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187325" indent="-17462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Times New Roman"/>
                <a:cs typeface="Times New Roman"/>
              </a:rPr>
              <a:t>Device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Management</a:t>
            </a:r>
            <a:endParaRPr sz="2800">
              <a:latin typeface="Times New Roman"/>
              <a:cs typeface="Times New Roman"/>
            </a:endParaRPr>
          </a:p>
          <a:p>
            <a:pPr lvl="1" marL="643890" marR="97155" indent="-174625">
              <a:lnSpc>
                <a:spcPts val="3020"/>
              </a:lnSpc>
              <a:spcBef>
                <a:spcPts val="550"/>
              </a:spcBef>
              <a:buFont typeface="Arial MT"/>
              <a:buChar char="•"/>
              <a:tabLst>
                <a:tab pos="645160" algn="l"/>
                <a:tab pos="7332345" algn="l"/>
              </a:tabLst>
            </a:pPr>
            <a:r>
              <a:rPr dirty="0" sz="2800">
                <a:latin typeface="Times New Roman"/>
                <a:cs typeface="Times New Roman"/>
              </a:rPr>
              <a:t>Kernel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must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maintain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list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of</a:t>
            </a:r>
            <a:r>
              <a:rPr dirty="0" sz="2800" spc="-2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available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>
                <a:latin typeface="Times New Roman"/>
                <a:cs typeface="Times New Roman"/>
              </a:rPr>
              <a:t>devices</a:t>
            </a:r>
            <a:r>
              <a:rPr dirty="0" sz="2800">
                <a:latin typeface="Times New Roman"/>
                <a:cs typeface="Times New Roman"/>
              </a:rPr>
              <a:t>	in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advance</a:t>
            </a:r>
            <a:r>
              <a:rPr dirty="0" sz="2800" spc="-15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by</a:t>
            </a:r>
            <a:r>
              <a:rPr dirty="0" sz="2800" spc="-10">
                <a:latin typeface="Times New Roman"/>
                <a:cs typeface="Times New Roman"/>
              </a:rPr>
              <a:t> </a:t>
            </a:r>
            <a:r>
              <a:rPr dirty="0" sz="2800" spc="-25">
                <a:latin typeface="Times New Roman"/>
                <a:cs typeface="Times New Roman"/>
              </a:rPr>
              <a:t>the </a:t>
            </a:r>
            <a:r>
              <a:rPr dirty="0" sz="2800" spc="-25">
                <a:latin typeface="Times New Roman"/>
                <a:cs typeface="Times New Roman"/>
              </a:rPr>
              <a:t>	</a:t>
            </a:r>
            <a:r>
              <a:rPr dirty="0" sz="2800">
                <a:latin typeface="Times New Roman"/>
                <a:cs typeface="Times New Roman"/>
              </a:rPr>
              <a:t>user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>
                <a:latin typeface="Times New Roman"/>
                <a:cs typeface="Times New Roman"/>
              </a:rPr>
              <a:t>(called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plug</a:t>
            </a:r>
            <a:r>
              <a:rPr dirty="0" sz="28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dirty="0" sz="2800" spc="-30" b="1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Times New Roman"/>
                <a:cs typeface="Times New Roman"/>
              </a:rPr>
              <a:t>play</a:t>
            </a:r>
            <a:r>
              <a:rPr dirty="0" sz="2800" spc="-1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2112010">
              <a:lnSpc>
                <a:spcPct val="100000"/>
              </a:lnSpc>
              <a:spcBef>
                <a:spcPts val="100"/>
              </a:spcBef>
            </a:pPr>
            <a:r>
              <a:rPr dirty="0"/>
              <a:t>Features</a:t>
            </a:r>
            <a:r>
              <a:rPr dirty="0" spc="-160"/>
              <a:t> </a:t>
            </a:r>
            <a:r>
              <a:rPr dirty="0"/>
              <a:t>of</a:t>
            </a:r>
            <a:r>
              <a:rPr dirty="0" spc="-160"/>
              <a:t> </a:t>
            </a:r>
            <a:r>
              <a:rPr dirty="0" spc="-10"/>
              <a:t>Kernel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718335"/>
            <a:ext cx="5828030" cy="4114165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187325" indent="-17462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Calibri"/>
                <a:cs typeface="Calibri"/>
              </a:rPr>
              <a:t>Scheduling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Process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(Dispatching)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 spc="-10">
                <a:latin typeface="Calibri"/>
                <a:cs typeface="Calibri"/>
              </a:rPr>
              <a:t>Interprocess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Communication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 spc="-10">
                <a:latin typeface="Calibri"/>
                <a:cs typeface="Calibri"/>
              </a:rPr>
              <a:t>Process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Synchronization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Calibri"/>
                <a:cs typeface="Calibri"/>
              </a:rPr>
              <a:t>Context</a:t>
            </a:r>
            <a:r>
              <a:rPr dirty="0" sz="2800" spc="-1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Switching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Calibri"/>
                <a:cs typeface="Calibri"/>
              </a:rPr>
              <a:t>Manipulation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Process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Control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Blocks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>
                <a:latin typeface="Calibri"/>
                <a:cs typeface="Calibri"/>
              </a:rPr>
              <a:t>Interrupt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handling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 spc="-10">
                <a:latin typeface="Calibri"/>
                <a:cs typeface="Calibri"/>
              </a:rPr>
              <a:t>Process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Creation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Destruction</a:t>
            </a:r>
            <a:endParaRPr sz="2800">
              <a:latin typeface="Calibri"/>
              <a:cs typeface="Calibri"/>
            </a:endParaRPr>
          </a:p>
          <a:p>
            <a:pPr marL="18732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187325" algn="l"/>
              </a:tabLst>
            </a:pPr>
            <a:r>
              <a:rPr dirty="0" sz="2800" spc="-10">
                <a:latin typeface="Calibri"/>
                <a:cs typeface="Calibri"/>
              </a:rPr>
              <a:t>Process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Suspension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Resumption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950" y="365125"/>
            <a:ext cx="8927381" cy="59563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0043" rIns="0" bIns="0" rtlCol="0" vert="horz">
            <a:spAutoFit/>
          </a:bodyPr>
          <a:lstStyle/>
          <a:p>
            <a:pPr marL="3032760">
              <a:lnSpc>
                <a:spcPct val="100000"/>
              </a:lnSpc>
              <a:spcBef>
                <a:spcPts val="100"/>
              </a:spcBef>
            </a:pPr>
            <a:r>
              <a:rPr dirty="0"/>
              <a:t>Micro</a:t>
            </a:r>
            <a:r>
              <a:rPr dirty="0" spc="-165"/>
              <a:t> </a:t>
            </a:r>
            <a:r>
              <a:rPr dirty="0" spc="-10"/>
              <a:t>Kernel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96520" rIns="0" bIns="0" rtlCol="0" vert="horz">
            <a:spAutoFit/>
          </a:bodyPr>
          <a:lstStyle/>
          <a:p>
            <a:pPr marL="207645" indent="-17462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08279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Kernel</a:t>
            </a:r>
            <a:r>
              <a:rPr dirty="0" spc="-7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broken</a:t>
            </a:r>
            <a:r>
              <a:rPr dirty="0" spc="-7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down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into</a:t>
            </a:r>
            <a:r>
              <a:rPr dirty="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20"/>
              <a:t>separate</a:t>
            </a:r>
            <a:r>
              <a:rPr dirty="0" spc="-70"/>
              <a:t> </a:t>
            </a:r>
            <a:r>
              <a:rPr dirty="0"/>
              <a:t>processes</a:t>
            </a:r>
            <a:r>
              <a:rPr dirty="0" spc="-65"/>
              <a:t> </a:t>
            </a:r>
            <a:r>
              <a:rPr dirty="0"/>
              <a:t>known</a:t>
            </a:r>
            <a:r>
              <a:rPr dirty="0" spc="-70"/>
              <a:t> </a:t>
            </a:r>
            <a:r>
              <a:rPr dirty="0"/>
              <a:t>as</a:t>
            </a:r>
            <a:r>
              <a:rPr dirty="0" spc="-65"/>
              <a:t> </a:t>
            </a:r>
            <a:r>
              <a:rPr dirty="0" spc="-10"/>
              <a:t>server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.</a:t>
            </a:r>
          </a:p>
          <a:p>
            <a:pPr marL="207010" marR="5080" indent="-174625">
              <a:lnSpc>
                <a:spcPts val="3020"/>
              </a:lnSpc>
              <a:spcBef>
                <a:spcPts val="1050"/>
              </a:spcBef>
              <a:buFont typeface="Arial MT"/>
              <a:buChar char="•"/>
              <a:tabLst>
                <a:tab pos="208915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Some</a:t>
            </a:r>
            <a:r>
              <a:rPr dirty="0" spc="1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server</a:t>
            </a:r>
            <a:r>
              <a:rPr dirty="0" spc="18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processes</a:t>
            </a:r>
            <a:r>
              <a:rPr dirty="0" spc="20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</a:rPr>
              <a:t>runs</a:t>
            </a:r>
            <a:r>
              <a:rPr dirty="0" spc="18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17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kernel</a:t>
            </a:r>
            <a:r>
              <a:rPr dirty="0" spc="18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space</a:t>
            </a:r>
            <a:r>
              <a:rPr dirty="0" spc="210">
                <a:solidFill>
                  <a:srgbClr val="000000"/>
                </a:solidFill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pc="1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some</a:t>
            </a:r>
            <a:r>
              <a:rPr dirty="0" spc="18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other</a:t>
            </a:r>
            <a:r>
              <a:rPr dirty="0" spc="19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>
                <a:solidFill>
                  <a:srgbClr val="000000"/>
                </a:solidFill>
              </a:rPr>
              <a:t>runs</a:t>
            </a:r>
            <a:r>
              <a:rPr dirty="0" spc="180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in </a:t>
            </a:r>
            <a:r>
              <a:rPr dirty="0" spc="-25">
                <a:solidFill>
                  <a:srgbClr val="000000"/>
                </a:solidFill>
              </a:rPr>
              <a:t>	</a:t>
            </a:r>
            <a:r>
              <a:rPr dirty="0">
                <a:solidFill>
                  <a:srgbClr val="000000"/>
                </a:solidFill>
              </a:rPr>
              <a:t>user</a:t>
            </a:r>
            <a:r>
              <a:rPr dirty="0" spc="-75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000000"/>
                </a:solidFill>
              </a:rPr>
              <a:t>space</a:t>
            </a:r>
          </a:p>
          <a:p>
            <a:pPr marL="207645" indent="-17462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08279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All</a:t>
            </a:r>
            <a:r>
              <a:rPr dirty="0" spc="-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/>
              <a:t>servers</a:t>
            </a:r>
            <a:r>
              <a:rPr dirty="0" spc="-75"/>
              <a:t> </a:t>
            </a:r>
            <a:r>
              <a:rPr dirty="0"/>
              <a:t>are</a:t>
            </a:r>
            <a:r>
              <a:rPr dirty="0" spc="-70"/>
              <a:t> </a:t>
            </a:r>
            <a:r>
              <a:rPr dirty="0"/>
              <a:t>kept</a:t>
            </a:r>
            <a:r>
              <a:rPr dirty="0" spc="-75"/>
              <a:t> </a:t>
            </a:r>
            <a:r>
              <a:rPr dirty="0" spc="-20"/>
              <a:t>separate</a:t>
            </a:r>
            <a:r>
              <a:rPr dirty="0" spc="-70"/>
              <a:t> </a:t>
            </a:r>
            <a:r>
              <a:rPr dirty="0"/>
              <a:t>and</a:t>
            </a:r>
            <a:r>
              <a:rPr dirty="0" spc="-70"/>
              <a:t> </a:t>
            </a:r>
            <a:r>
              <a:rPr dirty="0"/>
              <a:t>runs</a:t>
            </a:r>
            <a:r>
              <a:rPr dirty="0" spc="-75"/>
              <a:t> </a:t>
            </a:r>
            <a:r>
              <a:rPr dirty="0"/>
              <a:t>in</a:t>
            </a:r>
            <a:r>
              <a:rPr dirty="0" spc="-70"/>
              <a:t> </a:t>
            </a:r>
            <a:r>
              <a:rPr dirty="0" spc="-10"/>
              <a:t>different</a:t>
            </a:r>
            <a:r>
              <a:rPr dirty="0" spc="-70"/>
              <a:t> </a:t>
            </a:r>
            <a:r>
              <a:rPr dirty="0"/>
              <a:t>address</a:t>
            </a:r>
            <a:r>
              <a:rPr dirty="0" spc="-75"/>
              <a:t> </a:t>
            </a:r>
            <a:r>
              <a:rPr dirty="0" spc="-10"/>
              <a:t>space</a:t>
            </a:r>
          </a:p>
          <a:p>
            <a:pPr marL="207645" indent="-17462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08279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Communication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</a:t>
            </a: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done</a:t>
            </a: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/>
              <a:t>message</a:t>
            </a:r>
            <a:r>
              <a:rPr dirty="0" spc="-60"/>
              <a:t> </a:t>
            </a:r>
            <a:r>
              <a:rPr dirty="0" spc="-10"/>
              <a:t>passing</a:t>
            </a:r>
          </a:p>
          <a:p>
            <a:pPr marL="207010" marR="30480" indent="-17462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08915" algn="l"/>
                <a:tab pos="1118235" algn="l"/>
                <a:tab pos="1789430" algn="l"/>
                <a:tab pos="2520315" algn="l"/>
                <a:tab pos="3428365" algn="l"/>
                <a:tab pos="5068570" algn="l"/>
                <a:tab pos="5976620" algn="l"/>
                <a:tab pos="7376159" algn="l"/>
                <a:tab pos="8895715" algn="l"/>
                <a:tab pos="9803765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Parts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like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IPC,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basic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schedular,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basic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memory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handling,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basic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I/O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	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primitives</a:t>
            </a:r>
            <a:r>
              <a:rPr dirty="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are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placed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kernel.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760095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 spc="-10"/>
              <a:t>Disadvantage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0539" y="1755839"/>
            <a:ext cx="5004435" cy="413448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46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latin typeface="Calibri"/>
                <a:cs typeface="Calibri"/>
              </a:rPr>
              <a:t>Easier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maintain</a:t>
            </a:r>
            <a:endParaRPr sz="2600">
              <a:latin typeface="Calibri"/>
              <a:cs typeface="Calibri"/>
            </a:endParaRPr>
          </a:p>
          <a:p>
            <a:pPr marL="191770" marR="5080" indent="-179705">
              <a:lnSpc>
                <a:spcPct val="79700"/>
              </a:lnSpc>
              <a:spcBef>
                <a:spcPts val="1000"/>
              </a:spcBef>
              <a:buFont typeface="Arial MT"/>
              <a:buChar char="•"/>
              <a:tabLst>
                <a:tab pos="191770" algn="l"/>
                <a:tab pos="4337685" algn="l"/>
              </a:tabLst>
            </a:pP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large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number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system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calls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context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switch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must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slow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down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system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because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they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typically </a:t>
            </a:r>
            <a:r>
              <a:rPr dirty="0" sz="2600" spc="-20">
                <a:latin typeface="Calibri"/>
                <a:cs typeface="Calibri"/>
              </a:rPr>
              <a:t>generate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more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overhead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then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plain </a:t>
            </a:r>
            <a:r>
              <a:rPr dirty="0" sz="2600">
                <a:latin typeface="Calibri"/>
                <a:cs typeface="Calibri"/>
              </a:rPr>
              <a:t>function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calls.</a:t>
            </a:r>
            <a:endParaRPr sz="2600">
              <a:latin typeface="Calibri"/>
              <a:cs typeface="Calibri"/>
            </a:endParaRPr>
          </a:p>
          <a:p>
            <a:pPr marL="191770" marR="90170" indent="-179705">
              <a:lnSpc>
                <a:spcPct val="79700"/>
              </a:lnSpc>
              <a:spcBef>
                <a:spcPts val="1000"/>
              </a:spcBef>
              <a:buFont typeface="Arial MT"/>
              <a:buChar char="•"/>
              <a:tabLst>
                <a:tab pos="191770" algn="l"/>
                <a:tab pos="2301875" algn="l"/>
              </a:tabLst>
            </a:pPr>
            <a:r>
              <a:rPr dirty="0" sz="2600">
                <a:latin typeface="Calibri"/>
                <a:cs typeface="Calibri"/>
              </a:rPr>
              <a:t>Crash</a:t>
            </a:r>
            <a:r>
              <a:rPr dirty="0" sz="2600" spc="-1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resistant</a:t>
            </a:r>
            <a:r>
              <a:rPr dirty="0" sz="2600">
                <a:latin typeface="Calibri"/>
                <a:cs typeface="Calibri"/>
              </a:rPr>
              <a:t>	-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server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fails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,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servers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can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still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work </a:t>
            </a:r>
            <a:r>
              <a:rPr dirty="0" sz="2600" spc="-10">
                <a:latin typeface="Calibri"/>
                <a:cs typeface="Calibri"/>
              </a:rPr>
              <a:t>efficiently</a:t>
            </a:r>
            <a:endParaRPr sz="2600">
              <a:latin typeface="Calibri"/>
              <a:cs typeface="Calibri"/>
            </a:endParaRPr>
          </a:p>
          <a:p>
            <a:pPr marL="191770" indent="-179070">
              <a:lnSpc>
                <a:spcPct val="100000"/>
              </a:lnSpc>
              <a:spcBef>
                <a:spcPts val="37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 spc="-10">
                <a:latin typeface="Calibri"/>
                <a:cs typeface="Calibri"/>
              </a:rPr>
              <a:t>Portable</a:t>
            </a:r>
            <a:endParaRPr sz="2600">
              <a:latin typeface="Calibri"/>
              <a:cs typeface="Calibri"/>
            </a:endParaRPr>
          </a:p>
          <a:p>
            <a:pPr marL="191770" indent="-17907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z="2600">
                <a:latin typeface="Calibri"/>
                <a:cs typeface="Calibri"/>
              </a:rPr>
              <a:t>Smaller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Size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708551" y="1866999"/>
            <a:ext cx="4346575" cy="817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9734" marR="5080" indent="-40767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19734" algn="l"/>
              </a:tabLst>
            </a:pPr>
            <a:r>
              <a:rPr dirty="0" sz="2600">
                <a:latin typeface="Times New Roman"/>
                <a:cs typeface="Times New Roman"/>
              </a:rPr>
              <a:t>Slower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processing</a:t>
            </a:r>
            <a:r>
              <a:rPr dirty="0" sz="2600" spc="-1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because</a:t>
            </a:r>
            <a:r>
              <a:rPr dirty="0" sz="2600" spc="-10">
                <a:latin typeface="Times New Roman"/>
                <a:cs typeface="Times New Roman"/>
              </a:rPr>
              <a:t> </a:t>
            </a:r>
            <a:r>
              <a:rPr dirty="0" sz="2600" spc="-25">
                <a:latin typeface="Times New Roman"/>
                <a:cs typeface="Times New Roman"/>
              </a:rPr>
              <a:t>of </a:t>
            </a:r>
            <a:r>
              <a:rPr dirty="0" sz="2600">
                <a:latin typeface="Times New Roman"/>
                <a:cs typeface="Times New Roman"/>
              </a:rPr>
              <a:t>additional</a:t>
            </a:r>
            <a:r>
              <a:rPr dirty="0" sz="2600" spc="-95">
                <a:latin typeface="Times New Roman"/>
                <a:cs typeface="Times New Roman"/>
              </a:rPr>
              <a:t> </a:t>
            </a:r>
            <a:r>
              <a:rPr dirty="0" sz="2600">
                <a:latin typeface="Times New Roman"/>
                <a:cs typeface="Times New Roman"/>
              </a:rPr>
              <a:t>message</a:t>
            </a:r>
            <a:r>
              <a:rPr dirty="0" sz="2600" spc="-95">
                <a:latin typeface="Times New Roman"/>
                <a:cs typeface="Times New Roman"/>
              </a:rPr>
              <a:t> </a:t>
            </a:r>
            <a:r>
              <a:rPr dirty="0" sz="2600" spc="-10">
                <a:latin typeface="Times New Roman"/>
                <a:cs typeface="Times New Roman"/>
              </a:rPr>
              <a:t>passing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7615" y="2048396"/>
            <a:ext cx="8275898" cy="444447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3032760">
              <a:lnSpc>
                <a:spcPct val="100000"/>
              </a:lnSpc>
              <a:spcBef>
                <a:spcPts val="100"/>
              </a:spcBef>
            </a:pPr>
            <a:r>
              <a:rPr dirty="0"/>
              <a:t>Micro</a:t>
            </a:r>
            <a:r>
              <a:rPr dirty="0" spc="-165"/>
              <a:t> </a:t>
            </a:r>
            <a:r>
              <a:rPr dirty="0" spc="-10"/>
              <a:t>Kernel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2263140">
              <a:lnSpc>
                <a:spcPct val="100000"/>
              </a:lnSpc>
              <a:spcBef>
                <a:spcPts val="100"/>
              </a:spcBef>
            </a:pPr>
            <a:r>
              <a:rPr dirty="0"/>
              <a:t>Monolithic</a:t>
            </a:r>
            <a:r>
              <a:rPr dirty="0" spc="-330"/>
              <a:t> </a:t>
            </a:r>
            <a:r>
              <a:rPr dirty="0" spc="-10"/>
              <a:t>Kernel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1802663"/>
            <a:ext cx="10287000" cy="31375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186690" marR="5080" indent="-17462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187960" algn="l"/>
              </a:tabLst>
            </a:pP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Runs</a:t>
            </a:r>
            <a:r>
              <a:rPr dirty="0" sz="2800" spc="370" b="1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every</a:t>
            </a:r>
            <a:r>
              <a:rPr dirty="0" sz="2800" spc="375" b="1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basic</a:t>
            </a:r>
            <a:r>
              <a:rPr dirty="0" sz="2800" spc="375" b="1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dirty="0" sz="2800" spc="360" b="1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services</a:t>
            </a:r>
            <a:r>
              <a:rPr dirty="0" sz="2800" spc="400" b="1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like</a:t>
            </a:r>
            <a:r>
              <a:rPr dirty="0" sz="2800" spc="3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process</a:t>
            </a:r>
            <a:r>
              <a:rPr dirty="0" sz="2800" spc="37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370">
                <a:latin typeface="Calibri"/>
                <a:cs typeface="Calibri"/>
              </a:rPr>
              <a:t>  </a:t>
            </a:r>
            <a:r>
              <a:rPr dirty="0" sz="2800" spc="-10">
                <a:latin typeface="Calibri"/>
                <a:cs typeface="Calibri"/>
              </a:rPr>
              <a:t>memory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management,</a:t>
            </a:r>
            <a:r>
              <a:rPr dirty="0" sz="2800" spc="4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Interrupt</a:t>
            </a:r>
            <a:r>
              <a:rPr dirty="0" sz="2800" spc="4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handling</a:t>
            </a:r>
            <a:r>
              <a:rPr dirty="0" sz="2800" spc="4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450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I/O</a:t>
            </a:r>
            <a:r>
              <a:rPr dirty="0" sz="2800" spc="445">
                <a:latin typeface="Calibri"/>
                <a:cs typeface="Calibri"/>
              </a:rPr>
              <a:t>  </a:t>
            </a:r>
            <a:r>
              <a:rPr dirty="0" sz="2800">
                <a:latin typeface="Calibri"/>
                <a:cs typeface="Calibri"/>
              </a:rPr>
              <a:t>Communication</a:t>
            </a:r>
            <a:r>
              <a:rPr dirty="0" sz="2800" spc="445">
                <a:latin typeface="Calibri"/>
                <a:cs typeface="Calibri"/>
              </a:rPr>
              <a:t>  </a:t>
            </a:r>
            <a:r>
              <a:rPr dirty="0" sz="2800" spc="-25">
                <a:latin typeface="Calibri"/>
                <a:cs typeface="Calibri"/>
              </a:rPr>
              <a:t>and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filesystem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in</a:t>
            </a:r>
            <a:r>
              <a:rPr dirty="0" sz="2800" spc="-7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kernel</a:t>
            </a:r>
            <a:r>
              <a:rPr dirty="0" sz="2800" spc="-7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space.</a:t>
            </a:r>
            <a:endParaRPr sz="2800">
              <a:latin typeface="Calibri"/>
              <a:cs typeface="Calibri"/>
            </a:endParaRPr>
          </a:p>
          <a:p>
            <a:pPr algn="just" marL="187325" indent="-174625">
              <a:lnSpc>
                <a:spcPct val="100000"/>
              </a:lnSpc>
              <a:spcBef>
                <a:spcPts val="630"/>
              </a:spcBef>
              <a:buFont typeface="Arial"/>
              <a:buChar char="•"/>
              <a:tabLst>
                <a:tab pos="187325" algn="l"/>
              </a:tabLst>
            </a:pPr>
            <a:r>
              <a:rPr dirty="0" sz="2800" b="1">
                <a:latin typeface="Calibri"/>
                <a:cs typeface="Calibri"/>
              </a:rPr>
              <a:t>Used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by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Unix,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Linux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Operating</a:t>
            </a:r>
            <a:r>
              <a:rPr dirty="0" sz="2800" spc="-4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Systems</a:t>
            </a:r>
            <a:endParaRPr sz="2800">
              <a:latin typeface="Calibri"/>
              <a:cs typeface="Calibri"/>
            </a:endParaRPr>
          </a:p>
          <a:p>
            <a:pPr algn="just" marL="186690" marR="33020" indent="-174625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187960" algn="l"/>
              </a:tabLst>
            </a:pPr>
            <a:r>
              <a:rPr dirty="0" sz="2800" b="1">
                <a:latin typeface="Calibri"/>
                <a:cs typeface="Calibri"/>
              </a:rPr>
              <a:t>By</a:t>
            </a:r>
            <a:r>
              <a:rPr dirty="0" sz="2800" spc="2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using</a:t>
            </a:r>
            <a:r>
              <a:rPr dirty="0" sz="2800" spc="245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simple</a:t>
            </a:r>
            <a:r>
              <a:rPr dirty="0" sz="2800" spc="2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function</a:t>
            </a:r>
            <a:r>
              <a:rPr dirty="0" sz="2800" spc="23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call</a:t>
            </a:r>
            <a:r>
              <a:rPr dirty="0" sz="2800" b="1">
                <a:latin typeface="Calibri"/>
                <a:cs typeface="Calibri"/>
              </a:rPr>
              <a:t>,</a:t>
            </a:r>
            <a:r>
              <a:rPr dirty="0" sz="2800" spc="2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the</a:t>
            </a:r>
            <a:r>
              <a:rPr dirty="0" sz="2800" spc="2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kernel</a:t>
            </a:r>
            <a:r>
              <a:rPr dirty="0" sz="2800" spc="24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can</a:t>
            </a:r>
            <a:r>
              <a:rPr dirty="0" sz="2800" spc="23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directly</a:t>
            </a:r>
            <a:r>
              <a:rPr dirty="0" sz="2800" spc="23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communicate </a:t>
            </a:r>
            <a:r>
              <a:rPr dirty="0" sz="2800" spc="-10" b="1">
                <a:latin typeface="Calibri"/>
                <a:cs typeface="Calibri"/>
              </a:rPr>
              <a:t>	</a:t>
            </a:r>
            <a:r>
              <a:rPr dirty="0" sz="2800" b="1">
                <a:latin typeface="Calibri"/>
                <a:cs typeface="Calibri"/>
              </a:rPr>
              <a:t>with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each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other</a:t>
            </a:r>
            <a:endParaRPr sz="2800">
              <a:latin typeface="Calibri"/>
              <a:cs typeface="Calibri"/>
            </a:endParaRPr>
          </a:p>
          <a:p>
            <a:pPr algn="just" marL="187325" indent="-174625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187325" algn="l"/>
              </a:tabLst>
            </a:pPr>
            <a:r>
              <a:rPr dirty="0" sz="2800" b="1">
                <a:latin typeface="Calibri"/>
                <a:cs typeface="Calibri"/>
              </a:rPr>
              <a:t>Provides</a:t>
            </a:r>
            <a:r>
              <a:rPr dirty="0" sz="2800" spc="-75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rich</a:t>
            </a:r>
            <a:r>
              <a:rPr dirty="0" sz="2800" spc="-8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dirty="0" sz="2800" spc="-8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Calibri"/>
                <a:cs typeface="Calibri"/>
              </a:rPr>
              <a:t>powerful</a:t>
            </a:r>
            <a:r>
              <a:rPr dirty="0" sz="2800" spc="-90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r>
              <a:rPr dirty="0" sz="2800" spc="-85" b="1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FF0000"/>
                </a:solidFill>
                <a:latin typeface="Calibri"/>
                <a:cs typeface="Calibri"/>
              </a:rPr>
              <a:t>access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760095">
              <a:lnSpc>
                <a:spcPct val="100000"/>
              </a:lnSpc>
              <a:spcBef>
                <a:spcPts val="100"/>
              </a:spcBef>
            </a:pPr>
            <a:r>
              <a:rPr dirty="0"/>
              <a:t>Advantage</a:t>
            </a:r>
            <a:r>
              <a:rPr dirty="0" spc="-45"/>
              <a:t> </a:t>
            </a:r>
            <a:r>
              <a:rPr dirty="0"/>
              <a:t>&amp;</a:t>
            </a:r>
            <a:r>
              <a:rPr dirty="0" spc="-45"/>
              <a:t> </a:t>
            </a:r>
            <a:r>
              <a:rPr dirty="0" spc="-10"/>
              <a:t>Disadvantage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191770" indent="-17907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/>
              <a:t>Smaller</a:t>
            </a:r>
            <a:r>
              <a:rPr dirty="0" spc="-85"/>
              <a:t> </a:t>
            </a:r>
            <a:r>
              <a:rPr dirty="0"/>
              <a:t>in</a:t>
            </a:r>
            <a:r>
              <a:rPr dirty="0" spc="-80"/>
              <a:t> </a:t>
            </a:r>
            <a:r>
              <a:rPr dirty="0"/>
              <a:t>source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 spc="-10"/>
              <a:t>compiled</a:t>
            </a:r>
            <a:r>
              <a:rPr dirty="0" spc="-85"/>
              <a:t> </a:t>
            </a:r>
            <a:r>
              <a:rPr dirty="0" spc="-20"/>
              <a:t>form</a:t>
            </a:r>
          </a:p>
          <a:p>
            <a:pPr marL="191770" marR="189865" indent="-179705">
              <a:lnSpc>
                <a:spcPts val="2800"/>
              </a:lnSpc>
              <a:spcBef>
                <a:spcPts val="103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/>
              <a:t>Less</a:t>
            </a:r>
            <a:r>
              <a:rPr dirty="0" spc="-65"/>
              <a:t> </a:t>
            </a:r>
            <a:r>
              <a:rPr dirty="0"/>
              <a:t>code</a:t>
            </a:r>
            <a:r>
              <a:rPr dirty="0" spc="-60"/>
              <a:t> </a:t>
            </a:r>
            <a:r>
              <a:rPr dirty="0"/>
              <a:t>with</a:t>
            </a:r>
            <a:r>
              <a:rPr dirty="0" spc="-60"/>
              <a:t> </a:t>
            </a:r>
            <a:r>
              <a:rPr dirty="0"/>
              <a:t>less</a:t>
            </a:r>
            <a:r>
              <a:rPr dirty="0" spc="-60"/>
              <a:t> </a:t>
            </a:r>
            <a:r>
              <a:rPr dirty="0"/>
              <a:t>bugs</a:t>
            </a:r>
            <a:r>
              <a:rPr dirty="0" spc="-60"/>
              <a:t> </a:t>
            </a:r>
            <a:r>
              <a:rPr dirty="0"/>
              <a:t>and</a:t>
            </a:r>
            <a:r>
              <a:rPr dirty="0" spc="-60"/>
              <a:t> </a:t>
            </a:r>
            <a:r>
              <a:rPr dirty="0" spc="-10"/>
              <a:t>security problems</a:t>
            </a:r>
          </a:p>
          <a:p>
            <a:pPr marL="191770" marR="146050" indent="-179705">
              <a:lnSpc>
                <a:spcPts val="2800"/>
              </a:lnSpc>
              <a:spcBef>
                <a:spcPts val="994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pc="-10"/>
              <a:t>System</a:t>
            </a:r>
            <a:r>
              <a:rPr dirty="0" spc="-80"/>
              <a:t> </a:t>
            </a:r>
            <a:r>
              <a:rPr dirty="0"/>
              <a:t>calls</a:t>
            </a:r>
            <a:r>
              <a:rPr dirty="0" spc="-75"/>
              <a:t> </a:t>
            </a:r>
            <a:r>
              <a:rPr dirty="0"/>
              <a:t>are</a:t>
            </a:r>
            <a:r>
              <a:rPr dirty="0" spc="-80"/>
              <a:t> </a:t>
            </a:r>
            <a:r>
              <a:rPr dirty="0"/>
              <a:t>used</a:t>
            </a:r>
            <a:r>
              <a:rPr dirty="0" spc="-75"/>
              <a:t> </a:t>
            </a:r>
            <a:r>
              <a:rPr dirty="0"/>
              <a:t>to</a:t>
            </a:r>
            <a:r>
              <a:rPr dirty="0" spc="-80"/>
              <a:t> </a:t>
            </a:r>
            <a:r>
              <a:rPr dirty="0"/>
              <a:t>do</a:t>
            </a:r>
            <a:r>
              <a:rPr dirty="0" spc="-75"/>
              <a:t> </a:t>
            </a:r>
            <a:r>
              <a:rPr dirty="0" spc="-10"/>
              <a:t>operation </a:t>
            </a:r>
            <a:r>
              <a:rPr dirty="0"/>
              <a:t>in</a:t>
            </a:r>
            <a:r>
              <a:rPr dirty="0" spc="-50"/>
              <a:t> </a:t>
            </a:r>
            <a:r>
              <a:rPr dirty="0" spc="-10"/>
              <a:t>monolithic</a:t>
            </a:r>
            <a:r>
              <a:rPr dirty="0" spc="-45"/>
              <a:t> </a:t>
            </a:r>
            <a:r>
              <a:rPr dirty="0" spc="-10"/>
              <a:t>kernel</a:t>
            </a:r>
          </a:p>
          <a:p>
            <a:pPr marL="191770" indent="-17907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 spc="-10"/>
              <a:t>Execution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75"/>
              <a:t> </a:t>
            </a:r>
            <a:r>
              <a:rPr dirty="0" spc="-20"/>
              <a:t>fast</a:t>
            </a:r>
          </a:p>
          <a:p>
            <a:pPr marL="191770" marR="5080" indent="-179705">
              <a:lnSpc>
                <a:spcPts val="2800"/>
              </a:lnSpc>
              <a:spcBef>
                <a:spcPts val="1035"/>
              </a:spcBef>
              <a:buFont typeface="Arial MT"/>
              <a:buChar char="•"/>
              <a:tabLst>
                <a:tab pos="191770" algn="l"/>
                <a:tab pos="1932305" algn="l"/>
              </a:tabLst>
            </a:pPr>
            <a:r>
              <a:rPr dirty="0"/>
              <a:t>Kernel</a:t>
            </a:r>
            <a:r>
              <a:rPr dirty="0" spc="-75"/>
              <a:t> </a:t>
            </a:r>
            <a:r>
              <a:rPr dirty="0"/>
              <a:t>will</a:t>
            </a:r>
            <a:r>
              <a:rPr dirty="0" spc="-75"/>
              <a:t> </a:t>
            </a:r>
            <a:r>
              <a:rPr dirty="0"/>
              <a:t>have</a:t>
            </a:r>
            <a:r>
              <a:rPr dirty="0" spc="-70"/>
              <a:t> </a:t>
            </a:r>
            <a:r>
              <a:rPr dirty="0"/>
              <a:t>all,</a:t>
            </a:r>
            <a:r>
              <a:rPr dirty="0" spc="-75"/>
              <a:t> </a:t>
            </a:r>
            <a:r>
              <a:rPr dirty="0"/>
              <a:t>it</a:t>
            </a:r>
            <a:r>
              <a:rPr dirty="0" spc="-70"/>
              <a:t> </a:t>
            </a:r>
            <a:r>
              <a:rPr dirty="0"/>
              <a:t>does</a:t>
            </a:r>
            <a:r>
              <a:rPr dirty="0" spc="-75"/>
              <a:t> </a:t>
            </a:r>
            <a:r>
              <a:rPr dirty="0"/>
              <a:t>not</a:t>
            </a:r>
            <a:r>
              <a:rPr dirty="0" spc="-70"/>
              <a:t> </a:t>
            </a:r>
            <a:r>
              <a:rPr dirty="0" spc="-20"/>
              <a:t>need </a:t>
            </a:r>
            <a:r>
              <a:rPr dirty="0"/>
              <a:t>any</a:t>
            </a:r>
            <a:r>
              <a:rPr dirty="0" spc="-100"/>
              <a:t> </a:t>
            </a:r>
            <a:r>
              <a:rPr dirty="0" spc="-10"/>
              <a:t>extra</a:t>
            </a:r>
            <a:r>
              <a:rPr dirty="0" spc="-100"/>
              <a:t> </a:t>
            </a:r>
            <a:r>
              <a:rPr dirty="0" spc="-10"/>
              <a:t>mechanism</a:t>
            </a:r>
            <a:r>
              <a:rPr dirty="0" spc="-100"/>
              <a:t> </a:t>
            </a:r>
            <a:r>
              <a:rPr dirty="0"/>
              <a:t>for</a:t>
            </a:r>
            <a:r>
              <a:rPr dirty="0" spc="-100"/>
              <a:t> </a:t>
            </a:r>
            <a:r>
              <a:rPr dirty="0"/>
              <a:t>handling</a:t>
            </a:r>
            <a:r>
              <a:rPr dirty="0" spc="-95"/>
              <a:t> </a:t>
            </a:r>
            <a:r>
              <a:rPr dirty="0" spc="-25"/>
              <a:t>I/O </a:t>
            </a:r>
            <a:r>
              <a:rPr dirty="0"/>
              <a:t>and</a:t>
            </a:r>
            <a:r>
              <a:rPr dirty="0" spc="-55"/>
              <a:t> </a:t>
            </a:r>
            <a:r>
              <a:rPr dirty="0" spc="-10"/>
              <a:t>process</a:t>
            </a:r>
            <a:r>
              <a:rPr dirty="0"/>
              <a:t>	at</a:t>
            </a:r>
            <a:r>
              <a:rPr dirty="0" spc="-55"/>
              <a:t> </a:t>
            </a:r>
            <a:r>
              <a:rPr dirty="0"/>
              <a:t>the</a:t>
            </a:r>
            <a:r>
              <a:rPr dirty="0" spc="-50"/>
              <a:t> </a:t>
            </a:r>
            <a:r>
              <a:rPr dirty="0"/>
              <a:t>time</a:t>
            </a:r>
            <a:r>
              <a:rPr dirty="0" spc="-50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 spc="-10"/>
              <a:t>application making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91440" rIns="0" bIns="0" rtlCol="0" vert="horz">
            <a:spAutoFit/>
          </a:bodyPr>
          <a:lstStyle/>
          <a:p>
            <a:pPr marL="191770" marR="654050" indent="-179705">
              <a:lnSpc>
                <a:spcPct val="79700"/>
              </a:lnSpc>
              <a:spcBef>
                <a:spcPts val="72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/>
              <a:t>Coding</a:t>
            </a:r>
            <a:r>
              <a:rPr dirty="0" spc="-80"/>
              <a:t> </a:t>
            </a:r>
            <a:r>
              <a:rPr dirty="0"/>
              <a:t>in</a:t>
            </a:r>
            <a:r>
              <a:rPr dirty="0" spc="-80"/>
              <a:t> </a:t>
            </a:r>
            <a:r>
              <a:rPr dirty="0" spc="-10"/>
              <a:t>kernel</a:t>
            </a:r>
            <a:r>
              <a:rPr dirty="0" spc="-75"/>
              <a:t> </a:t>
            </a:r>
            <a:r>
              <a:rPr dirty="0"/>
              <a:t>is</a:t>
            </a:r>
            <a:r>
              <a:rPr dirty="0" spc="-80"/>
              <a:t> </a:t>
            </a:r>
            <a:r>
              <a:rPr dirty="0"/>
              <a:t>hard,</a:t>
            </a:r>
            <a:r>
              <a:rPr dirty="0" spc="-80"/>
              <a:t> </a:t>
            </a:r>
            <a:r>
              <a:rPr dirty="0" spc="-10"/>
              <a:t>since </a:t>
            </a:r>
            <a:r>
              <a:rPr dirty="0"/>
              <a:t>common</a:t>
            </a:r>
            <a:r>
              <a:rPr dirty="0" spc="-100"/>
              <a:t> </a:t>
            </a:r>
            <a:r>
              <a:rPr dirty="0" spc="-10"/>
              <a:t>libraries</a:t>
            </a:r>
            <a:r>
              <a:rPr dirty="0" spc="-100"/>
              <a:t> </a:t>
            </a:r>
            <a:r>
              <a:rPr dirty="0"/>
              <a:t>cannot</a:t>
            </a:r>
            <a:r>
              <a:rPr dirty="0" spc="-100"/>
              <a:t> </a:t>
            </a:r>
            <a:r>
              <a:rPr dirty="0"/>
              <a:t>be</a:t>
            </a:r>
            <a:r>
              <a:rPr dirty="0" spc="-95"/>
              <a:t> </a:t>
            </a:r>
            <a:r>
              <a:rPr dirty="0" spc="-20"/>
              <a:t>used</a:t>
            </a:r>
          </a:p>
          <a:p>
            <a:pPr marL="191770" marR="717550" indent="-179705">
              <a:lnSpc>
                <a:spcPct val="79700"/>
              </a:lnSpc>
              <a:spcBef>
                <a:spcPts val="100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/>
              <a:t>Debugging</a:t>
            </a:r>
            <a:r>
              <a:rPr dirty="0" spc="-90"/>
              <a:t> </a:t>
            </a:r>
            <a:r>
              <a:rPr dirty="0"/>
              <a:t>is</a:t>
            </a:r>
            <a:r>
              <a:rPr dirty="0" spc="-90"/>
              <a:t> </a:t>
            </a:r>
            <a:r>
              <a:rPr dirty="0" spc="-40"/>
              <a:t>harder,</a:t>
            </a:r>
            <a:r>
              <a:rPr dirty="0" spc="-90"/>
              <a:t> </a:t>
            </a:r>
            <a:r>
              <a:rPr dirty="0" spc="-10"/>
              <a:t>rebooting</a:t>
            </a:r>
            <a:r>
              <a:rPr dirty="0" spc="-90"/>
              <a:t> </a:t>
            </a:r>
            <a:r>
              <a:rPr dirty="0" spc="-25"/>
              <a:t>is </a:t>
            </a:r>
            <a:r>
              <a:rPr dirty="0"/>
              <a:t>needed</a:t>
            </a:r>
            <a:r>
              <a:rPr dirty="0" spc="-110"/>
              <a:t> </a:t>
            </a:r>
            <a:r>
              <a:rPr dirty="0" spc="-10"/>
              <a:t>frequently</a:t>
            </a:r>
          </a:p>
          <a:p>
            <a:pPr marL="191770" marR="500380" indent="-179705">
              <a:lnSpc>
                <a:spcPct val="79700"/>
              </a:lnSpc>
              <a:spcBef>
                <a:spcPts val="100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/>
              <a:t>Bugs</a:t>
            </a:r>
            <a:r>
              <a:rPr dirty="0" spc="-65"/>
              <a:t> </a:t>
            </a:r>
            <a:r>
              <a:rPr dirty="0"/>
              <a:t>in</a:t>
            </a:r>
            <a:r>
              <a:rPr dirty="0" spc="-60"/>
              <a:t> </a:t>
            </a:r>
            <a:r>
              <a:rPr dirty="0"/>
              <a:t>one</a:t>
            </a:r>
            <a:r>
              <a:rPr dirty="0" spc="-60"/>
              <a:t> </a:t>
            </a:r>
            <a:r>
              <a:rPr dirty="0"/>
              <a:t>part</a:t>
            </a:r>
            <a:r>
              <a:rPr dirty="0" spc="-60"/>
              <a:t> </a:t>
            </a:r>
            <a:r>
              <a:rPr dirty="0"/>
              <a:t>of</a:t>
            </a:r>
            <a:r>
              <a:rPr dirty="0" spc="-65"/>
              <a:t> </a:t>
            </a:r>
            <a:r>
              <a:rPr dirty="0" spc="-10"/>
              <a:t>kernel</a:t>
            </a:r>
            <a:r>
              <a:rPr dirty="0" spc="-60"/>
              <a:t> </a:t>
            </a:r>
            <a:r>
              <a:rPr dirty="0" spc="-10"/>
              <a:t>produce strong</a:t>
            </a:r>
            <a:r>
              <a:rPr dirty="0" spc="-80"/>
              <a:t> </a:t>
            </a:r>
            <a:r>
              <a:rPr dirty="0"/>
              <a:t>side</a:t>
            </a:r>
            <a:r>
              <a:rPr dirty="0" spc="-80"/>
              <a:t> </a:t>
            </a:r>
            <a:r>
              <a:rPr dirty="0" spc="-10"/>
              <a:t>effect</a:t>
            </a:r>
          </a:p>
          <a:p>
            <a:pPr marL="191770" marR="859790" indent="-179705">
              <a:lnSpc>
                <a:spcPct val="79700"/>
              </a:lnSpc>
              <a:spcBef>
                <a:spcPts val="100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/>
              <a:t>Kernel</a:t>
            </a:r>
            <a:r>
              <a:rPr dirty="0" spc="-95"/>
              <a:t> </a:t>
            </a:r>
            <a:r>
              <a:rPr dirty="0"/>
              <a:t>is</a:t>
            </a:r>
            <a:r>
              <a:rPr dirty="0" spc="-90"/>
              <a:t> </a:t>
            </a:r>
            <a:r>
              <a:rPr dirty="0"/>
              <a:t>become</a:t>
            </a:r>
            <a:r>
              <a:rPr dirty="0" spc="-95"/>
              <a:t> </a:t>
            </a:r>
            <a:r>
              <a:rPr dirty="0"/>
              <a:t>very</a:t>
            </a:r>
            <a:r>
              <a:rPr dirty="0" spc="-90"/>
              <a:t> </a:t>
            </a:r>
            <a:r>
              <a:rPr dirty="0"/>
              <a:t>huge</a:t>
            </a:r>
            <a:r>
              <a:rPr dirty="0" spc="-90"/>
              <a:t> </a:t>
            </a:r>
            <a:r>
              <a:rPr dirty="0" spc="-25"/>
              <a:t>and </a:t>
            </a:r>
            <a:r>
              <a:rPr dirty="0"/>
              <a:t>difficult</a:t>
            </a:r>
            <a:r>
              <a:rPr dirty="0" spc="-105"/>
              <a:t> </a:t>
            </a:r>
            <a:r>
              <a:rPr dirty="0"/>
              <a:t>to</a:t>
            </a:r>
            <a:r>
              <a:rPr dirty="0" spc="-100"/>
              <a:t> </a:t>
            </a:r>
            <a:r>
              <a:rPr dirty="0" spc="-10"/>
              <a:t>maintain</a:t>
            </a:r>
          </a:p>
          <a:p>
            <a:pPr marL="191770" indent="-179070">
              <a:lnSpc>
                <a:spcPts val="3110"/>
              </a:lnSpc>
              <a:spcBef>
                <a:spcPts val="370"/>
              </a:spcBef>
              <a:buFont typeface="Arial MT"/>
              <a:buChar char="•"/>
              <a:tabLst>
                <a:tab pos="191770" algn="l"/>
              </a:tabLst>
            </a:pPr>
            <a:r>
              <a:rPr dirty="0"/>
              <a:t>Not</a:t>
            </a:r>
            <a:r>
              <a:rPr dirty="0" spc="-70"/>
              <a:t> </a:t>
            </a:r>
            <a:r>
              <a:rPr dirty="0" spc="-10"/>
              <a:t>portable</a:t>
            </a:r>
            <a:r>
              <a:rPr dirty="0" spc="-65"/>
              <a:t> </a:t>
            </a:r>
            <a:r>
              <a:rPr dirty="0" spc="-25"/>
              <a:t>one</a:t>
            </a:r>
          </a:p>
          <a:p>
            <a:pPr lvl="1" marL="647700" marR="5080" indent="-185420">
              <a:lnSpc>
                <a:spcPts val="2130"/>
              </a:lnSpc>
              <a:spcBef>
                <a:spcPts val="484"/>
              </a:spcBef>
              <a:buFont typeface="Arial MT"/>
              <a:buChar char="•"/>
              <a:tabLst>
                <a:tab pos="648970" algn="l"/>
              </a:tabLst>
            </a:pPr>
            <a:r>
              <a:rPr dirty="0" sz="2200">
                <a:latin typeface="Calibri"/>
                <a:cs typeface="Calibri"/>
              </a:rPr>
              <a:t>Monolithic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kernels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rewritten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for </a:t>
            </a:r>
            <a:r>
              <a:rPr dirty="0" sz="2200" spc="-25">
                <a:latin typeface="Calibri"/>
                <a:cs typeface="Calibri"/>
              </a:rPr>
              <a:t>	</a:t>
            </a:r>
            <a:r>
              <a:rPr dirty="0" sz="2200">
                <a:latin typeface="Calibri"/>
                <a:cs typeface="Calibri"/>
              </a:rPr>
              <a:t>each new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architecture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3060700" marR="5080" indent="-2014855">
              <a:lnSpc>
                <a:spcPts val="4750"/>
              </a:lnSpc>
              <a:spcBef>
                <a:spcPts val="700"/>
              </a:spcBef>
            </a:pPr>
            <a:r>
              <a:rPr dirty="0"/>
              <a:t>Monolithic</a:t>
            </a:r>
            <a:r>
              <a:rPr dirty="0" spc="-270"/>
              <a:t> </a:t>
            </a:r>
            <a:r>
              <a:rPr dirty="0"/>
              <a:t>Kernel</a:t>
            </a:r>
            <a:r>
              <a:rPr dirty="0" spc="-270"/>
              <a:t> </a:t>
            </a:r>
            <a:r>
              <a:rPr dirty="0" spc="-10"/>
              <a:t>system Architecture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5327" y="2057119"/>
            <a:ext cx="6516545" cy="44357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Microkernel</a:t>
            </a:r>
            <a:r>
              <a:rPr dirty="0" spc="-155"/>
              <a:t> </a:t>
            </a:r>
            <a:r>
              <a:rPr dirty="0"/>
              <a:t>&amp;</a:t>
            </a:r>
            <a:r>
              <a:rPr dirty="0" spc="-145"/>
              <a:t> </a:t>
            </a:r>
            <a:r>
              <a:rPr dirty="0"/>
              <a:t>Monolithic</a:t>
            </a:r>
            <a:r>
              <a:rPr dirty="0" spc="-150"/>
              <a:t> </a:t>
            </a:r>
            <a:r>
              <a:rPr dirty="0" spc="-10"/>
              <a:t>kernel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8096" y="1825625"/>
            <a:ext cx="7595806" cy="435133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451" rIns="0" bIns="0" rtlCol="0" vert="horz">
            <a:spAutoFit/>
          </a:bodyPr>
          <a:lstStyle/>
          <a:p>
            <a:pPr marL="2846705">
              <a:lnSpc>
                <a:spcPct val="100000"/>
              </a:lnSpc>
              <a:spcBef>
                <a:spcPts val="100"/>
              </a:spcBef>
            </a:pPr>
            <a:r>
              <a:rPr dirty="0"/>
              <a:t>Hybrid</a:t>
            </a:r>
            <a:r>
              <a:rPr dirty="0" spc="-40"/>
              <a:t> </a:t>
            </a:r>
            <a:r>
              <a:rPr dirty="0" spc="-10"/>
              <a:t>Kernel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4547" y="3406037"/>
            <a:ext cx="4285615" cy="836294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6690" marR="5080" indent="-17462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187960" algn="l"/>
              </a:tabLst>
            </a:pP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combination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of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Monolithic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Micro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kernel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2259" y="1825625"/>
            <a:ext cx="5344270" cy="41820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1.3. Kernel &amp; its types</dc:title>
  <dcterms:created xsi:type="dcterms:W3CDTF">2025-02-24T03:11:40Z</dcterms:created>
  <dcterms:modified xsi:type="dcterms:W3CDTF">2025-02-24T03:11:40Z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2025-02-24T00:00:00Z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2025-02-24T00:00:00Z</vt:filetime>
  </property>
</Properties>
</file>